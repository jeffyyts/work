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84" r:id="rId3"/>
    <p:sldId id="285" r:id="rId4"/>
    <p:sldId id="286" r:id="rId5"/>
    <p:sldId id="287" r:id="rId6"/>
    <p:sldId id="288" r:id="rId7"/>
    <p:sldId id="289" r:id="rId8"/>
    <p:sldId id="256" r:id="rId9"/>
    <p:sldId id="257" r:id="rId10"/>
    <p:sldId id="270" r:id="rId11"/>
    <p:sldId id="271" r:id="rId12"/>
    <p:sldId id="259" r:id="rId13"/>
    <p:sldId id="261" r:id="rId14"/>
    <p:sldId id="262" r:id="rId15"/>
    <p:sldId id="263" r:id="rId16"/>
    <p:sldId id="272" r:id="rId17"/>
    <p:sldId id="273" r:id="rId18"/>
    <p:sldId id="275" r:id="rId19"/>
    <p:sldId id="276" r:id="rId20"/>
    <p:sldId id="274" r:id="rId21"/>
    <p:sldId id="277" r:id="rId22"/>
    <p:sldId id="278" r:id="rId23"/>
    <p:sldId id="280" r:id="rId24"/>
    <p:sldId id="282" r:id="rId25"/>
    <p:sldId id="283" r:id="rId26"/>
    <p:sldId id="279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>
        <p:scale>
          <a:sx n="89" d="100"/>
          <a:sy n="89" d="100"/>
        </p:scale>
        <p:origin x="78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1266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7702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5925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655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76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375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7782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17514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8370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811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293E3-C2BA-4526-9AE9-5CC13D65343D}" type="datetimeFigureOut">
              <a:rPr lang="en-MY" smtClean="0"/>
              <a:t>7/6/2026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8158C-18F6-4C28-8805-A6888135C6F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5123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razidi.abu@customs.gov.m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27997" y="226232"/>
            <a:ext cx="2603536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1600" b="1" dirty="0" err="1" smtClean="0">
                <a:solidFill>
                  <a:schemeClr val="tx1"/>
                </a:solidFill>
              </a:rPr>
              <a:t>MyPetroleum</a:t>
            </a:r>
            <a:r>
              <a:rPr lang="en-US" sz="1600" b="1" dirty="0" smtClean="0">
                <a:solidFill>
                  <a:schemeClr val="tx1"/>
                </a:solidFill>
              </a:rPr>
              <a:t> JKDM </a:t>
            </a:r>
          </a:p>
          <a:p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10800000" flipV="1">
            <a:off x="4985452" y="1252788"/>
            <a:ext cx="4100766" cy="24704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r>
              <a:rPr lang="en-US" sz="1200" dirty="0" smtClean="0">
                <a:solidFill>
                  <a:schemeClr val="tx1"/>
                </a:solidFill>
              </a:rPr>
              <a:t> JKDM - </a:t>
            </a:r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Petroleum.</a:t>
            </a:r>
          </a:p>
          <a:p>
            <a:r>
              <a:rPr lang="en-US" sz="1200" dirty="0" err="1" smtClean="0">
                <a:solidFill>
                  <a:schemeClr val="tx1"/>
                </a:solidFill>
              </a:rPr>
              <a:t>Laman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ini</a:t>
            </a:r>
            <a:r>
              <a:rPr lang="en-US" sz="1200" dirty="0" smtClean="0">
                <a:solidFill>
                  <a:schemeClr val="tx1"/>
                </a:solidFill>
              </a:rPr>
              <a:t>  </a:t>
            </a:r>
            <a:r>
              <a:rPr lang="en-US" sz="1200" dirty="0" err="1" smtClean="0">
                <a:solidFill>
                  <a:schemeClr val="tx1"/>
                </a:solidFill>
              </a:rPr>
              <a:t>dibangunkan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sebagai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satu</a:t>
            </a:r>
            <a:r>
              <a:rPr lang="en-US" sz="1200" dirty="0" smtClean="0">
                <a:solidFill>
                  <a:schemeClr val="tx1"/>
                </a:solidFill>
              </a:rPr>
              <a:t> platform </a:t>
            </a:r>
            <a:r>
              <a:rPr lang="en-US" sz="1200" dirty="0" err="1" smtClean="0">
                <a:solidFill>
                  <a:schemeClr val="tx1"/>
                </a:solidFill>
              </a:rPr>
              <a:t>kepada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mana-mana</a:t>
            </a:r>
            <a:r>
              <a:rPr lang="en-US" sz="1200" dirty="0">
                <a:solidFill>
                  <a:schemeClr val="tx1"/>
                </a:solidFill>
              </a:rPr>
              <a:t> orang yang </a:t>
            </a:r>
            <a:r>
              <a:rPr lang="en-US" sz="1200" dirty="0" err="1">
                <a:solidFill>
                  <a:schemeClr val="tx1"/>
                </a:solidFill>
              </a:rPr>
              <a:t>diluluskan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untuk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menjalankan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perkhidmatan</a:t>
            </a:r>
            <a:r>
              <a:rPr lang="en-US" sz="1200" dirty="0">
                <a:solidFill>
                  <a:schemeClr val="tx1"/>
                </a:solidFill>
              </a:rPr>
              <a:t> bunkering di </a:t>
            </a:r>
            <a:r>
              <a:rPr lang="en-US" sz="1200" dirty="0" err="1">
                <a:solidFill>
                  <a:schemeClr val="tx1"/>
                </a:solidFill>
              </a:rPr>
              <a:t>bawah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Akta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Kemajuan</a:t>
            </a:r>
            <a:r>
              <a:rPr lang="en-US" sz="1200" dirty="0">
                <a:solidFill>
                  <a:schemeClr val="tx1"/>
                </a:solidFill>
              </a:rPr>
              <a:t> Petroleum </a:t>
            </a:r>
            <a:r>
              <a:rPr lang="en-US" sz="1200" dirty="0" smtClean="0">
                <a:solidFill>
                  <a:schemeClr val="tx1"/>
                </a:solidFill>
              </a:rPr>
              <a:t>1974 </a:t>
            </a:r>
            <a:r>
              <a:rPr lang="en-US" sz="1200" dirty="0" err="1" smtClean="0">
                <a:solidFill>
                  <a:schemeClr val="tx1"/>
                </a:solidFill>
              </a:rPr>
              <a:t>memohon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kelulusan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pengecualian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cukai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jualan</a:t>
            </a:r>
            <a:r>
              <a:rPr lang="en-US" sz="1200" dirty="0" smtClean="0">
                <a:solidFill>
                  <a:schemeClr val="tx1"/>
                </a:solidFill>
              </a:rPr>
              <a:t> di </a:t>
            </a:r>
            <a:r>
              <a:rPr lang="en-US" sz="1200" dirty="0" err="1" smtClean="0">
                <a:solidFill>
                  <a:schemeClr val="tx1"/>
                </a:solidFill>
              </a:rPr>
              <a:t>bawah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Butiran</a:t>
            </a:r>
            <a:r>
              <a:rPr lang="en-US" sz="1200" dirty="0" smtClean="0">
                <a:solidFill>
                  <a:schemeClr val="tx1"/>
                </a:solidFill>
              </a:rPr>
              <a:t> 58 </a:t>
            </a:r>
            <a:r>
              <a:rPr lang="en-US" sz="1200" dirty="0">
                <a:solidFill>
                  <a:schemeClr val="tx1"/>
                </a:solidFill>
              </a:rPr>
              <a:t>A </a:t>
            </a:r>
            <a:r>
              <a:rPr lang="en-US" sz="1200" dirty="0" err="1">
                <a:solidFill>
                  <a:schemeClr val="tx1"/>
                </a:solidFill>
              </a:rPr>
              <a:t>Perintah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Cukai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Jualan</a:t>
            </a:r>
            <a:r>
              <a:rPr lang="en-US" sz="1200" dirty="0">
                <a:solidFill>
                  <a:schemeClr val="tx1"/>
                </a:solidFill>
              </a:rPr>
              <a:t> (Orang Yang </a:t>
            </a:r>
            <a:r>
              <a:rPr lang="en-US" sz="1200" dirty="0" err="1">
                <a:solidFill>
                  <a:schemeClr val="tx1"/>
                </a:solidFill>
              </a:rPr>
              <a:t>Dikecualikan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Daripada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Pembayaran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Cukai</a:t>
            </a:r>
            <a:r>
              <a:rPr lang="en-US" sz="1200" dirty="0">
                <a:solidFill>
                  <a:schemeClr val="tx1"/>
                </a:solidFill>
              </a:rPr>
              <a:t>) 2018.</a:t>
            </a:r>
            <a:endParaRPr lang="en-MY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Bunkering </a:t>
            </a:r>
            <a:r>
              <a:rPr lang="en-US" sz="1200" dirty="0" err="1" smtClean="0">
                <a:solidFill>
                  <a:schemeClr val="tx1"/>
                </a:solidFill>
              </a:rPr>
              <a:t>adalah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kegiatan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menyalurkan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apa-apa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jenis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bahan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api</a:t>
            </a:r>
            <a:r>
              <a:rPr lang="en-US" sz="1200" dirty="0" smtClean="0">
                <a:solidFill>
                  <a:schemeClr val="tx1"/>
                </a:solidFill>
              </a:rPr>
              <a:t> (</a:t>
            </a:r>
            <a:r>
              <a:rPr lang="en-US" sz="1200" dirty="0" err="1" smtClean="0">
                <a:solidFill>
                  <a:schemeClr val="tx1"/>
                </a:solidFill>
              </a:rPr>
              <a:t>produk</a:t>
            </a:r>
            <a:r>
              <a:rPr lang="en-US" sz="1200" dirty="0" smtClean="0">
                <a:solidFill>
                  <a:schemeClr val="tx1"/>
                </a:solidFill>
              </a:rPr>
              <a:t> petroleum)</a:t>
            </a:r>
            <a:r>
              <a:rPr lang="en-US" sz="1200" dirty="0" err="1" smtClean="0">
                <a:solidFill>
                  <a:schemeClr val="tx1"/>
                </a:solidFill>
              </a:rPr>
              <a:t>untuk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menggerakkan</a:t>
            </a:r>
            <a:r>
              <a:rPr lang="en-US" sz="1200" dirty="0" smtClean="0">
                <a:solidFill>
                  <a:schemeClr val="tx1"/>
                </a:solidFill>
              </a:rPr>
              <a:t>/ </a:t>
            </a:r>
            <a:r>
              <a:rPr lang="en-US" sz="1200" dirty="0" err="1" smtClean="0">
                <a:solidFill>
                  <a:schemeClr val="tx1"/>
                </a:solidFill>
              </a:rPr>
              <a:t>kegunaan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enjin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kapal</a:t>
            </a:r>
            <a:r>
              <a:rPr lang="en-US" sz="1200" dirty="0" smtClean="0">
                <a:solidFill>
                  <a:schemeClr val="tx1"/>
                </a:solidFill>
              </a:rPr>
              <a:t> di </a:t>
            </a:r>
            <a:r>
              <a:rPr lang="en-US" sz="1200" dirty="0" err="1" smtClean="0">
                <a:solidFill>
                  <a:schemeClr val="tx1"/>
                </a:solidFill>
              </a:rPr>
              <a:t>dalam</a:t>
            </a:r>
            <a:r>
              <a:rPr lang="en-US" sz="1200" dirty="0" smtClean="0">
                <a:solidFill>
                  <a:schemeClr val="tx1"/>
                </a:solidFill>
              </a:rPr>
              <a:t> had </a:t>
            </a:r>
            <a:r>
              <a:rPr lang="en-US" sz="1200" dirty="0" err="1" smtClean="0">
                <a:solidFill>
                  <a:schemeClr val="tx1"/>
                </a:solidFill>
              </a:rPr>
              <a:t>pelabuhan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atau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jeti</a:t>
            </a:r>
            <a:r>
              <a:rPr lang="en-US" sz="1200" dirty="0" smtClean="0">
                <a:solidFill>
                  <a:schemeClr val="tx1"/>
                </a:solidFill>
              </a:rPr>
              <a:t> yang </a:t>
            </a:r>
            <a:r>
              <a:rPr lang="en-US" sz="1200" dirty="0" err="1" smtClean="0">
                <a:solidFill>
                  <a:schemeClr val="tx1"/>
                </a:solidFill>
              </a:rPr>
              <a:t>diberi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kebenaran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oleh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Jabatan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Kastam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Diraja</a:t>
            </a:r>
            <a:r>
              <a:rPr lang="en-US" sz="1200" dirty="0" smtClean="0">
                <a:solidFill>
                  <a:schemeClr val="tx1"/>
                </a:solidFill>
              </a:rPr>
              <a:t> Malaysia.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0373" y="3723264"/>
            <a:ext cx="2065658" cy="435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KPDN </a:t>
            </a:r>
            <a:endParaRPr lang="en-MY" dirty="0"/>
          </a:p>
        </p:txBody>
      </p:sp>
      <p:sp>
        <p:nvSpPr>
          <p:cNvPr id="10" name="Rectangle 9"/>
          <p:cNvSpPr/>
          <p:nvPr/>
        </p:nvSpPr>
        <p:spPr>
          <a:xfrm>
            <a:off x="6999851" y="893030"/>
            <a:ext cx="2086367" cy="211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Daftar</a:t>
            </a:r>
            <a:r>
              <a:rPr lang="en-US" sz="1200" dirty="0" smtClean="0"/>
              <a:t> </a:t>
            </a:r>
            <a:r>
              <a:rPr lang="en-US" sz="1200" dirty="0" err="1" smtClean="0"/>
              <a:t>Masuk</a:t>
            </a:r>
            <a:r>
              <a:rPr lang="en-US" sz="1200" dirty="0" smtClean="0"/>
              <a:t> My Petroleum</a:t>
            </a:r>
            <a:endParaRPr lang="en-MY" sz="1200" dirty="0"/>
          </a:p>
        </p:txBody>
      </p:sp>
      <p:sp>
        <p:nvSpPr>
          <p:cNvPr id="11" name="Rectangle 10"/>
          <p:cNvSpPr/>
          <p:nvPr/>
        </p:nvSpPr>
        <p:spPr>
          <a:xfrm>
            <a:off x="4434222" y="5133460"/>
            <a:ext cx="4390666" cy="5427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/>
                </a:solidFill>
              </a:rPr>
              <a:t>https://www.kpdn.gov.my/images/muat-turun/garis-panduan/garis-panduan-pda-2.pdf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782" y="896005"/>
            <a:ext cx="1087907" cy="208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Utama</a:t>
            </a:r>
            <a:endParaRPr lang="en-MY" sz="1100" dirty="0"/>
          </a:p>
        </p:txBody>
      </p:sp>
      <p:sp>
        <p:nvSpPr>
          <p:cNvPr id="13" name="Rectangle 12"/>
          <p:cNvSpPr/>
          <p:nvPr/>
        </p:nvSpPr>
        <p:spPr>
          <a:xfrm>
            <a:off x="1198428" y="90697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Mengenai</a:t>
            </a:r>
            <a:r>
              <a:rPr lang="en-US" sz="1100" dirty="0" smtClean="0"/>
              <a:t> </a:t>
            </a:r>
            <a:r>
              <a:rPr lang="en-US" sz="1100" dirty="0" err="1" smtClean="0"/>
              <a:t>MyPetroleum</a:t>
            </a:r>
            <a:endParaRPr lang="en-MY" sz="1100" dirty="0"/>
          </a:p>
        </p:txBody>
      </p:sp>
      <p:sp>
        <p:nvSpPr>
          <p:cNvPr id="14" name="Rectangle 13"/>
          <p:cNvSpPr/>
          <p:nvPr/>
        </p:nvSpPr>
        <p:spPr>
          <a:xfrm>
            <a:off x="2905361" y="8987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Panduan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 A </a:t>
            </a:r>
            <a:endParaRPr lang="en-MY" sz="1100" dirty="0"/>
          </a:p>
        </p:txBody>
      </p:sp>
      <p:sp>
        <p:nvSpPr>
          <p:cNvPr id="16" name="Rectangle 15"/>
          <p:cNvSpPr/>
          <p:nvPr/>
        </p:nvSpPr>
        <p:spPr>
          <a:xfrm>
            <a:off x="4555490" y="887738"/>
            <a:ext cx="1172210" cy="22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Hubungi</a:t>
            </a:r>
            <a:r>
              <a:rPr lang="en-US" sz="1100" dirty="0" smtClean="0"/>
              <a:t> Kami</a:t>
            </a:r>
            <a:endParaRPr lang="en-MY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389" y="4366177"/>
            <a:ext cx="1676225" cy="7983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24" y="128520"/>
            <a:ext cx="675572" cy="675572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 flipV="1">
            <a:off x="30782" y="4132582"/>
            <a:ext cx="9113218" cy="18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248" y="-58485"/>
            <a:ext cx="1622750" cy="79786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09" y="4528025"/>
            <a:ext cx="543159" cy="5431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49167" y="4689692"/>
            <a:ext cx="1954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Portal </a:t>
            </a:r>
            <a:r>
              <a:rPr lang="en-US" sz="1400" dirty="0" err="1" smtClean="0"/>
              <a:t>Rasmi</a:t>
            </a:r>
            <a:r>
              <a:rPr lang="en-US" sz="1400" dirty="0" smtClean="0"/>
              <a:t> JKDM</a:t>
            </a:r>
            <a:endParaRPr lang="en-MY" sz="14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83" b="10208"/>
          <a:stretch/>
        </p:blipFill>
        <p:spPr>
          <a:xfrm>
            <a:off x="65861" y="1274765"/>
            <a:ext cx="4919591" cy="244459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2675" y="5716807"/>
            <a:ext cx="9167533" cy="11597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2570" y="4158693"/>
            <a:ext cx="194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Pautan</a:t>
            </a:r>
            <a:r>
              <a:rPr lang="en-US" dirty="0" smtClean="0"/>
              <a:t> </a:t>
            </a:r>
            <a:r>
              <a:rPr lang="en-US" dirty="0" err="1" smtClean="0"/>
              <a:t>Agensi</a:t>
            </a:r>
            <a:endParaRPr lang="en-MY" dirty="0"/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0" y="759542"/>
            <a:ext cx="9144000" cy="328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810357" y="855161"/>
            <a:ext cx="995835" cy="382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Manual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  <p:cxnSp>
        <p:nvCxnSpPr>
          <p:cNvPr id="4" name="Straight Arrow Connector 3"/>
          <p:cNvCxnSpPr>
            <a:endCxn id="17" idx="2"/>
          </p:cNvCxnSpPr>
          <p:nvPr/>
        </p:nvCxnSpPr>
        <p:spPr>
          <a:xfrm flipH="1" flipV="1">
            <a:off x="3971502" y="5164571"/>
            <a:ext cx="260031" cy="240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54" y="1292622"/>
            <a:ext cx="4853618" cy="22968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6AADC553-2C42-4FB8-AF03-E50AA0142B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60" y="1268798"/>
            <a:ext cx="4886578" cy="242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5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3118" y="174602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Mengenai</a:t>
            </a:r>
            <a:r>
              <a:rPr lang="en-US" sz="1100" dirty="0" smtClean="0"/>
              <a:t> </a:t>
            </a:r>
            <a:r>
              <a:rPr lang="en-US" sz="1100" dirty="0" err="1" smtClean="0"/>
              <a:t>MyPetroleum</a:t>
            </a:r>
            <a:endParaRPr lang="en-MY" sz="1100" dirty="0"/>
          </a:p>
        </p:txBody>
      </p:sp>
      <p:sp>
        <p:nvSpPr>
          <p:cNvPr id="5" name="Rectangle 4"/>
          <p:cNvSpPr/>
          <p:nvPr/>
        </p:nvSpPr>
        <p:spPr>
          <a:xfrm rot="10800000" flipV="1">
            <a:off x="1069540" y="493861"/>
            <a:ext cx="6288561" cy="24704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r>
              <a:rPr lang="en-US" sz="1200" dirty="0" smtClean="0">
                <a:solidFill>
                  <a:schemeClr val="tx1"/>
                </a:solidFill>
              </a:rPr>
              <a:t> JKDM - </a:t>
            </a:r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Petroleum.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Laman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ini</a:t>
            </a:r>
            <a:r>
              <a:rPr lang="en-US" sz="1200" dirty="0" smtClean="0">
                <a:solidFill>
                  <a:schemeClr val="tx1"/>
                </a:solidFill>
              </a:rPr>
              <a:t>  </a:t>
            </a:r>
            <a:r>
              <a:rPr lang="en-US" sz="1200" dirty="0" err="1" smtClean="0">
                <a:solidFill>
                  <a:schemeClr val="tx1"/>
                </a:solidFill>
              </a:rPr>
              <a:t>dibangunkan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sebagai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satu</a:t>
            </a:r>
            <a:r>
              <a:rPr lang="en-US" sz="1200" dirty="0" smtClean="0">
                <a:solidFill>
                  <a:schemeClr val="tx1"/>
                </a:solidFill>
              </a:rPr>
              <a:t> platform </a:t>
            </a:r>
            <a:r>
              <a:rPr lang="en-US" sz="1200" dirty="0" err="1" smtClean="0">
                <a:solidFill>
                  <a:schemeClr val="tx1"/>
                </a:solidFill>
              </a:rPr>
              <a:t>kepada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mana-mana</a:t>
            </a:r>
            <a:r>
              <a:rPr lang="en-US" sz="1200" dirty="0">
                <a:solidFill>
                  <a:schemeClr val="tx1"/>
                </a:solidFill>
              </a:rPr>
              <a:t> orang yang </a:t>
            </a:r>
            <a:r>
              <a:rPr lang="en-US" sz="1200" dirty="0" err="1">
                <a:solidFill>
                  <a:schemeClr val="tx1"/>
                </a:solidFill>
              </a:rPr>
              <a:t>diluluskan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untuk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menjalankan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perkhidmatan</a:t>
            </a:r>
            <a:r>
              <a:rPr lang="en-US" sz="1200" dirty="0">
                <a:solidFill>
                  <a:schemeClr val="tx1"/>
                </a:solidFill>
              </a:rPr>
              <a:t> bunkering di </a:t>
            </a:r>
            <a:r>
              <a:rPr lang="en-US" sz="1200" dirty="0" err="1">
                <a:solidFill>
                  <a:schemeClr val="tx1"/>
                </a:solidFill>
              </a:rPr>
              <a:t>bawah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Akta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Kemajuan</a:t>
            </a:r>
            <a:r>
              <a:rPr lang="en-US" sz="1200" dirty="0">
                <a:solidFill>
                  <a:schemeClr val="tx1"/>
                </a:solidFill>
              </a:rPr>
              <a:t> Petroleum </a:t>
            </a:r>
            <a:r>
              <a:rPr lang="en-US" sz="1200" dirty="0" smtClean="0">
                <a:solidFill>
                  <a:schemeClr val="tx1"/>
                </a:solidFill>
              </a:rPr>
              <a:t>1974 </a:t>
            </a:r>
            <a:r>
              <a:rPr lang="en-US" sz="1200" dirty="0" err="1" smtClean="0">
                <a:solidFill>
                  <a:schemeClr val="tx1"/>
                </a:solidFill>
              </a:rPr>
              <a:t>memohon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kelulusan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pengecualian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cukai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jualan</a:t>
            </a:r>
            <a:r>
              <a:rPr lang="en-US" sz="1200" dirty="0" smtClean="0">
                <a:solidFill>
                  <a:schemeClr val="tx1"/>
                </a:solidFill>
              </a:rPr>
              <a:t> di </a:t>
            </a:r>
            <a:r>
              <a:rPr lang="en-US" sz="1200" dirty="0" err="1" smtClean="0">
                <a:solidFill>
                  <a:schemeClr val="tx1"/>
                </a:solidFill>
              </a:rPr>
              <a:t>bawah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Butiran</a:t>
            </a:r>
            <a:r>
              <a:rPr lang="en-US" sz="1200" dirty="0" smtClean="0">
                <a:solidFill>
                  <a:schemeClr val="tx1"/>
                </a:solidFill>
              </a:rPr>
              <a:t> 58 </a:t>
            </a:r>
            <a:r>
              <a:rPr lang="en-US" sz="1200" dirty="0">
                <a:solidFill>
                  <a:schemeClr val="tx1"/>
                </a:solidFill>
              </a:rPr>
              <a:t>A </a:t>
            </a:r>
            <a:r>
              <a:rPr lang="en-US" sz="1200" dirty="0" err="1">
                <a:solidFill>
                  <a:schemeClr val="tx1"/>
                </a:solidFill>
              </a:rPr>
              <a:t>Perintah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Cukai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Jualan</a:t>
            </a:r>
            <a:r>
              <a:rPr lang="en-US" sz="1200" dirty="0">
                <a:solidFill>
                  <a:schemeClr val="tx1"/>
                </a:solidFill>
              </a:rPr>
              <a:t> (Orang Yang </a:t>
            </a:r>
            <a:r>
              <a:rPr lang="en-US" sz="1200" dirty="0" err="1">
                <a:solidFill>
                  <a:schemeClr val="tx1"/>
                </a:solidFill>
              </a:rPr>
              <a:t>Dikecualikan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Daripada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Pembayaran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Cukai</a:t>
            </a:r>
            <a:r>
              <a:rPr lang="en-US" sz="1200" dirty="0">
                <a:solidFill>
                  <a:schemeClr val="tx1"/>
                </a:solidFill>
              </a:rPr>
              <a:t>) 2018.</a:t>
            </a:r>
            <a:endParaRPr lang="en-MY" sz="1200" dirty="0">
              <a:solidFill>
                <a:schemeClr val="tx1"/>
              </a:solidFill>
            </a:endParaRPr>
          </a:p>
          <a:p>
            <a:endParaRPr lang="en-US" sz="1200" dirty="0">
              <a:solidFill>
                <a:schemeClr val="tx1"/>
              </a:solidFill>
            </a:endParaRPr>
          </a:p>
          <a:p>
            <a:r>
              <a:rPr lang="en-US" sz="1200" dirty="0" smtClean="0">
                <a:solidFill>
                  <a:schemeClr val="tx1"/>
                </a:solidFill>
              </a:rPr>
              <a:t>Bunkering </a:t>
            </a:r>
            <a:r>
              <a:rPr lang="en-US" sz="1200" dirty="0" err="1" smtClean="0">
                <a:solidFill>
                  <a:schemeClr val="tx1"/>
                </a:solidFill>
              </a:rPr>
              <a:t>adalah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kegiatan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menyalurkan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apa-apa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jenis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bahan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api</a:t>
            </a:r>
            <a:r>
              <a:rPr lang="en-US" sz="1200" dirty="0" smtClean="0">
                <a:solidFill>
                  <a:schemeClr val="tx1"/>
                </a:solidFill>
              </a:rPr>
              <a:t> (</a:t>
            </a:r>
            <a:r>
              <a:rPr lang="en-US" sz="1200" dirty="0" err="1" smtClean="0">
                <a:solidFill>
                  <a:schemeClr val="tx1"/>
                </a:solidFill>
              </a:rPr>
              <a:t>produk</a:t>
            </a:r>
            <a:r>
              <a:rPr lang="en-US" sz="1200" dirty="0" smtClean="0">
                <a:solidFill>
                  <a:schemeClr val="tx1"/>
                </a:solidFill>
              </a:rPr>
              <a:t> petroleum)</a:t>
            </a:r>
            <a:r>
              <a:rPr lang="en-US" sz="1200" dirty="0" err="1" smtClean="0">
                <a:solidFill>
                  <a:schemeClr val="tx1"/>
                </a:solidFill>
              </a:rPr>
              <a:t>untuk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menggerakkan</a:t>
            </a:r>
            <a:r>
              <a:rPr lang="en-US" sz="1200" dirty="0" smtClean="0">
                <a:solidFill>
                  <a:schemeClr val="tx1"/>
                </a:solidFill>
              </a:rPr>
              <a:t>/ </a:t>
            </a:r>
            <a:r>
              <a:rPr lang="en-US" sz="1200" dirty="0" err="1" smtClean="0">
                <a:solidFill>
                  <a:schemeClr val="tx1"/>
                </a:solidFill>
              </a:rPr>
              <a:t>kegunaan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enjin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kapal</a:t>
            </a:r>
            <a:r>
              <a:rPr lang="en-US" sz="1200" dirty="0" smtClean="0">
                <a:solidFill>
                  <a:schemeClr val="tx1"/>
                </a:solidFill>
              </a:rPr>
              <a:t> di </a:t>
            </a:r>
            <a:r>
              <a:rPr lang="en-US" sz="1200" dirty="0" err="1" smtClean="0">
                <a:solidFill>
                  <a:schemeClr val="tx1"/>
                </a:solidFill>
              </a:rPr>
              <a:t>dalam</a:t>
            </a:r>
            <a:r>
              <a:rPr lang="en-US" sz="1200" dirty="0" smtClean="0">
                <a:solidFill>
                  <a:schemeClr val="tx1"/>
                </a:solidFill>
              </a:rPr>
              <a:t> had </a:t>
            </a:r>
            <a:r>
              <a:rPr lang="en-US" sz="1200" dirty="0" err="1" smtClean="0">
                <a:solidFill>
                  <a:schemeClr val="tx1"/>
                </a:solidFill>
              </a:rPr>
              <a:t>pelabuhan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atau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jeti</a:t>
            </a:r>
            <a:r>
              <a:rPr lang="en-US" sz="1200" dirty="0" smtClean="0">
                <a:solidFill>
                  <a:schemeClr val="tx1"/>
                </a:solidFill>
              </a:rPr>
              <a:t> yang </a:t>
            </a:r>
            <a:r>
              <a:rPr lang="en-US" sz="1200" dirty="0" err="1" smtClean="0">
                <a:solidFill>
                  <a:schemeClr val="tx1"/>
                </a:solidFill>
              </a:rPr>
              <a:t>diberi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kebenaran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oleh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Jabatan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Kastam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Diraja</a:t>
            </a:r>
            <a:r>
              <a:rPr lang="en-US" sz="1200" dirty="0" smtClean="0">
                <a:solidFill>
                  <a:schemeClr val="tx1"/>
                </a:solidFill>
              </a:rPr>
              <a:t> Malaysia.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6829" y="3361694"/>
            <a:ext cx="86214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1200" dirty="0" err="1">
                <a:solidFill>
                  <a:srgbClr val="333333"/>
                </a:solidFill>
                <a:latin typeface="-apple-system"/>
              </a:rPr>
              <a:t>Bagaimana</a:t>
            </a:r>
            <a:r>
              <a:rPr lang="en-MY" sz="12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MY" sz="1200" dirty="0" err="1">
                <a:solidFill>
                  <a:srgbClr val="333333"/>
                </a:solidFill>
                <a:latin typeface="-apple-system"/>
              </a:rPr>
              <a:t>Untuk</a:t>
            </a:r>
            <a:r>
              <a:rPr lang="en-MY" sz="12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MY" sz="1200" dirty="0" err="1">
                <a:solidFill>
                  <a:srgbClr val="333333"/>
                </a:solidFill>
                <a:latin typeface="-apple-system"/>
              </a:rPr>
              <a:t>Menggunakan</a:t>
            </a:r>
            <a:r>
              <a:rPr lang="en-MY" sz="12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MY" sz="1200" dirty="0" err="1">
                <a:solidFill>
                  <a:srgbClr val="333333"/>
                </a:solidFill>
                <a:latin typeface="-apple-system"/>
              </a:rPr>
              <a:t>Sistem</a:t>
            </a:r>
            <a:r>
              <a:rPr lang="en-MY" sz="1200" dirty="0">
                <a:solidFill>
                  <a:srgbClr val="333333"/>
                </a:solidFill>
                <a:latin typeface="-apple-system"/>
              </a:rPr>
              <a:t> </a:t>
            </a:r>
            <a:r>
              <a:rPr lang="en-MY" sz="1200" dirty="0" err="1" smtClean="0">
                <a:solidFill>
                  <a:srgbClr val="333333"/>
                </a:solidFill>
                <a:latin typeface="-apple-system"/>
              </a:rPr>
              <a:t>MyPetroleum</a:t>
            </a:r>
            <a:r>
              <a:rPr lang="en-MY" sz="1200" dirty="0" smtClean="0">
                <a:solidFill>
                  <a:srgbClr val="333333"/>
                </a:solidFill>
                <a:latin typeface="-apple-system"/>
              </a:rPr>
              <a:t>?</a:t>
            </a:r>
          </a:p>
          <a:p>
            <a:endParaRPr lang="en-MY" sz="1200" dirty="0">
              <a:solidFill>
                <a:srgbClr val="333333"/>
              </a:solidFill>
              <a:latin typeface="-apple-system"/>
            </a:endParaRPr>
          </a:p>
          <a:p>
            <a:pPr algn="just"/>
            <a:r>
              <a:rPr lang="en-MY" sz="1200" dirty="0">
                <a:solidFill>
                  <a:srgbClr val="031B4E"/>
                </a:solidFill>
                <a:latin typeface="Roboto"/>
              </a:rPr>
              <a:t>Para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syarikat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bunker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boleh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mengakses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Sistem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MyPetroleum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(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Sistem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Maklumat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Bunker)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menggunakan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aplikasi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browser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laman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sesawang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(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Sila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gunakan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Chrome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untuk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paparan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terbaik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)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dengan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melayari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url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http://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mypetroleum.customs.gov.my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/ . </a:t>
            </a:r>
            <a:endParaRPr lang="en-MY" sz="1200" dirty="0" smtClean="0">
              <a:solidFill>
                <a:srgbClr val="031B4E"/>
              </a:solidFill>
              <a:latin typeface="Roboto"/>
            </a:endParaRPr>
          </a:p>
          <a:p>
            <a:pPr algn="just"/>
            <a:endParaRPr lang="en-MY" sz="1200" dirty="0">
              <a:solidFill>
                <a:srgbClr val="031B4E"/>
              </a:solidFill>
              <a:latin typeface="Roboto"/>
            </a:endParaRPr>
          </a:p>
          <a:p>
            <a:pPr algn="just"/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Untuk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pemohon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baharu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,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sila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klik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pada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pautan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“BORANG ID"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untuk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mendapatkan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Borang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ID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MyPetroleum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.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Sila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isikan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semua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maklumat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yang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diperlukan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di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dalam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borang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tersebut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emel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kepada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pentadbir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sistem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seperti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di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alamat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di </a:t>
            </a:r>
            <a:r>
              <a:rPr lang="en-MY" sz="1200" dirty="0" err="1" smtClean="0">
                <a:solidFill>
                  <a:srgbClr val="031B4E"/>
                </a:solidFill>
                <a:latin typeface="Roboto"/>
              </a:rPr>
              <a:t>butang</a:t>
            </a:r>
            <a:r>
              <a:rPr lang="en-MY" sz="1200" dirty="0" smtClean="0">
                <a:solidFill>
                  <a:srgbClr val="031B4E"/>
                </a:solidFill>
                <a:latin typeface="Roboto"/>
              </a:rPr>
              <a:t> ‘HUBUNGI KAMI”.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Permohonan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anda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akan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diproses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jika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diluluskan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,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anda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akan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diberikan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kata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nama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kata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laluan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untuk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log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masuk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ke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dalam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sistem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ini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dalam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tempoh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2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hari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.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Sila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rujuk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emel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anda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untuk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sebarang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maklumat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berkaitan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permohonan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yang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telah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 </a:t>
            </a:r>
            <a:r>
              <a:rPr lang="en-MY" sz="1200" dirty="0" err="1">
                <a:solidFill>
                  <a:srgbClr val="031B4E"/>
                </a:solidFill>
                <a:latin typeface="Roboto"/>
              </a:rPr>
              <a:t>dilaksanakan</a:t>
            </a:r>
            <a:r>
              <a:rPr lang="en-MY" sz="1200" dirty="0">
                <a:solidFill>
                  <a:srgbClr val="031B4E"/>
                </a:solidFill>
                <a:latin typeface="Roboto"/>
              </a:rPr>
              <a:t>.</a:t>
            </a:r>
            <a:endParaRPr lang="en-MY" sz="1200" b="0" i="0" dirty="0">
              <a:solidFill>
                <a:srgbClr val="031B4E"/>
              </a:solidFill>
              <a:effectLst/>
              <a:latin typeface="Robo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117" y="5563571"/>
            <a:ext cx="2943616" cy="268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Borang</a:t>
            </a:r>
            <a:r>
              <a:rPr lang="en-US" dirty="0" smtClean="0"/>
              <a:t> ID </a:t>
            </a:r>
            <a:r>
              <a:rPr lang="en-US" dirty="0" err="1" smtClean="0"/>
              <a:t>MyPetroleum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8228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9471" y="694814"/>
            <a:ext cx="73320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 err="1"/>
              <a:t>Perintah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 </a:t>
            </a:r>
            <a:r>
              <a:rPr lang="en-MY" dirty="0" err="1"/>
              <a:t>Jualan</a:t>
            </a:r>
            <a:r>
              <a:rPr lang="en-MY" dirty="0"/>
              <a:t> (Orang Yang </a:t>
            </a:r>
            <a:r>
              <a:rPr lang="en-MY" dirty="0" err="1"/>
              <a:t>Dikecualikan</a:t>
            </a:r>
            <a:r>
              <a:rPr lang="en-MY" dirty="0"/>
              <a:t> </a:t>
            </a:r>
            <a:r>
              <a:rPr lang="en-MY" dirty="0" err="1"/>
              <a:t>Daripada</a:t>
            </a:r>
            <a:r>
              <a:rPr lang="en-MY" dirty="0"/>
              <a:t> </a:t>
            </a:r>
            <a:r>
              <a:rPr lang="en-MY" dirty="0" err="1"/>
              <a:t>Pembayaran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) (</a:t>
            </a:r>
            <a:r>
              <a:rPr lang="en-MY" dirty="0" err="1"/>
              <a:t>Pindaan</a:t>
            </a:r>
            <a:r>
              <a:rPr lang="en-MY" dirty="0"/>
              <a:t>) 2021 </a:t>
            </a:r>
            <a:r>
              <a:rPr lang="en-MY" dirty="0" err="1"/>
              <a:t>telah</a:t>
            </a:r>
            <a:r>
              <a:rPr lang="en-MY" dirty="0"/>
              <a:t> </a:t>
            </a:r>
            <a:r>
              <a:rPr lang="en-MY" dirty="0" err="1"/>
              <a:t>diwartakan</a:t>
            </a:r>
            <a:r>
              <a:rPr lang="en-MY" dirty="0"/>
              <a:t> </a:t>
            </a:r>
            <a:r>
              <a:rPr lang="en-MY" dirty="0" err="1"/>
              <a:t>dan</a:t>
            </a:r>
            <a:r>
              <a:rPr lang="en-MY" dirty="0"/>
              <a:t> </a:t>
            </a:r>
            <a:r>
              <a:rPr lang="en-MY" dirty="0" err="1"/>
              <a:t>berkuatkuasa</a:t>
            </a:r>
            <a:r>
              <a:rPr lang="en-MY" dirty="0"/>
              <a:t> </a:t>
            </a:r>
            <a:r>
              <a:rPr lang="en-MY" dirty="0" err="1"/>
              <a:t>pada</a:t>
            </a:r>
            <a:r>
              <a:rPr lang="en-MY" dirty="0"/>
              <a:t> 15 Jun 2021 </a:t>
            </a:r>
            <a:r>
              <a:rPr lang="en-MY" dirty="0" err="1"/>
              <a:t>dengan</a:t>
            </a:r>
            <a:r>
              <a:rPr lang="en-MY" dirty="0"/>
              <a:t> </a:t>
            </a:r>
            <a:r>
              <a:rPr lang="en-MY" dirty="0" err="1"/>
              <a:t>memasukkan</a:t>
            </a:r>
            <a:r>
              <a:rPr lang="en-MY" dirty="0"/>
              <a:t> </a:t>
            </a:r>
            <a:r>
              <a:rPr lang="en-MY" dirty="0" err="1"/>
              <a:t>Butiran</a:t>
            </a:r>
            <a:r>
              <a:rPr lang="en-MY" dirty="0"/>
              <a:t> 58A, </a:t>
            </a:r>
            <a:r>
              <a:rPr lang="en-MY" dirty="0" err="1"/>
              <a:t>Jadual</a:t>
            </a:r>
            <a:r>
              <a:rPr lang="en-MY" dirty="0"/>
              <a:t> A. </a:t>
            </a:r>
            <a:endParaRPr lang="en-MY" dirty="0" smtClean="0"/>
          </a:p>
          <a:p>
            <a:endParaRPr lang="en-MY" dirty="0"/>
          </a:p>
          <a:p>
            <a:r>
              <a:rPr lang="en-MY" dirty="0" err="1" smtClean="0"/>
              <a:t>Pengecualian</a:t>
            </a:r>
            <a:r>
              <a:rPr lang="en-MY" dirty="0" smtClean="0"/>
              <a:t> </a:t>
            </a:r>
            <a:r>
              <a:rPr lang="en-MY" dirty="0" err="1"/>
              <a:t>cukai</a:t>
            </a:r>
            <a:r>
              <a:rPr lang="en-MY" dirty="0"/>
              <a:t> </a:t>
            </a:r>
            <a:r>
              <a:rPr lang="en-MY" dirty="0" err="1"/>
              <a:t>jualan</a:t>
            </a:r>
            <a:r>
              <a:rPr lang="en-MY" dirty="0"/>
              <a:t> di </a:t>
            </a:r>
            <a:r>
              <a:rPr lang="en-MY" dirty="0" err="1"/>
              <a:t>bawah</a:t>
            </a:r>
            <a:r>
              <a:rPr lang="en-MY" dirty="0"/>
              <a:t> </a:t>
            </a:r>
            <a:r>
              <a:rPr lang="en-MY" dirty="0" err="1"/>
              <a:t>Butiran</a:t>
            </a:r>
            <a:r>
              <a:rPr lang="en-MY" dirty="0"/>
              <a:t> 58A </a:t>
            </a:r>
            <a:r>
              <a:rPr lang="en-MY" dirty="0" err="1"/>
              <a:t>diberikan</a:t>
            </a:r>
            <a:r>
              <a:rPr lang="en-MY" dirty="0"/>
              <a:t> </a:t>
            </a:r>
            <a:r>
              <a:rPr lang="en-MY" dirty="0" err="1"/>
              <a:t>kepada</a:t>
            </a:r>
            <a:r>
              <a:rPr lang="en-MY" dirty="0"/>
              <a:t> </a:t>
            </a:r>
            <a:r>
              <a:rPr lang="en-MY" dirty="0" err="1"/>
              <a:t>mana</a:t>
            </a:r>
            <a:r>
              <a:rPr lang="en-MY" dirty="0"/>
              <a:t> </a:t>
            </a:r>
            <a:r>
              <a:rPr lang="en-MY" dirty="0" err="1"/>
              <a:t>mana</a:t>
            </a:r>
            <a:r>
              <a:rPr lang="en-MY" dirty="0"/>
              <a:t> orang yang </a:t>
            </a:r>
            <a:r>
              <a:rPr lang="en-MY" dirty="0" err="1"/>
              <a:t>diluluskan</a:t>
            </a:r>
            <a:r>
              <a:rPr lang="en-MY" dirty="0"/>
              <a:t> </a:t>
            </a:r>
            <a:r>
              <a:rPr lang="en-MY" dirty="0" err="1"/>
              <a:t>untuk</a:t>
            </a:r>
            <a:r>
              <a:rPr lang="en-MY" dirty="0"/>
              <a:t> </a:t>
            </a:r>
            <a:r>
              <a:rPr lang="en-MY" dirty="0" err="1"/>
              <a:t>menjalankan</a:t>
            </a:r>
            <a:r>
              <a:rPr lang="en-MY" dirty="0"/>
              <a:t> </a:t>
            </a:r>
            <a:r>
              <a:rPr lang="en-MY" dirty="0" err="1"/>
              <a:t>perkhidmatan</a:t>
            </a:r>
            <a:r>
              <a:rPr lang="en-MY" dirty="0"/>
              <a:t> bunkering di </a:t>
            </a:r>
            <a:r>
              <a:rPr lang="en-MY" dirty="0" err="1"/>
              <a:t>bawah</a:t>
            </a:r>
            <a:r>
              <a:rPr lang="en-MY" dirty="0"/>
              <a:t> </a:t>
            </a:r>
            <a:r>
              <a:rPr lang="en-MY" dirty="0" err="1"/>
              <a:t>Akta</a:t>
            </a:r>
            <a:r>
              <a:rPr lang="en-MY" dirty="0"/>
              <a:t> </a:t>
            </a:r>
            <a:r>
              <a:rPr lang="en-MY" dirty="0" err="1"/>
              <a:t>Kemajuan</a:t>
            </a:r>
            <a:r>
              <a:rPr lang="en-MY" dirty="0"/>
              <a:t> Petroleum 1974. 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067" y="195109"/>
            <a:ext cx="6945500" cy="4997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Panduan</a:t>
            </a:r>
            <a:r>
              <a:rPr lang="en-US" sz="1600" dirty="0" smtClean="0"/>
              <a:t> </a:t>
            </a:r>
            <a:r>
              <a:rPr lang="en-US" sz="1600" dirty="0" err="1" smtClean="0"/>
              <a:t>Pengecualian</a:t>
            </a:r>
            <a:r>
              <a:rPr lang="en-US" sz="1600" dirty="0" smtClean="0"/>
              <a:t> </a:t>
            </a:r>
            <a:r>
              <a:rPr lang="en-US" sz="1600" dirty="0" err="1" smtClean="0"/>
              <a:t>Cukai</a:t>
            </a:r>
            <a:r>
              <a:rPr lang="en-US" sz="1600" dirty="0" smtClean="0"/>
              <a:t> </a:t>
            </a:r>
            <a:r>
              <a:rPr lang="en-US" sz="1600" dirty="0" err="1" smtClean="0"/>
              <a:t>Jualan</a:t>
            </a:r>
            <a:r>
              <a:rPr lang="en-US" sz="1600" dirty="0" smtClean="0"/>
              <a:t> Di </a:t>
            </a:r>
            <a:r>
              <a:rPr lang="en-US" sz="1600" dirty="0" err="1" smtClean="0"/>
              <a:t>Bawah</a:t>
            </a:r>
            <a:r>
              <a:rPr lang="en-US" sz="1600" dirty="0" smtClean="0"/>
              <a:t> </a:t>
            </a:r>
            <a:r>
              <a:rPr lang="en-US" sz="1600" dirty="0" err="1" smtClean="0"/>
              <a:t>Butiran</a:t>
            </a:r>
            <a:r>
              <a:rPr lang="en-US" sz="1600" dirty="0" smtClean="0"/>
              <a:t> 58A, </a:t>
            </a:r>
            <a:r>
              <a:rPr lang="en-US" sz="1600" dirty="0" err="1" smtClean="0"/>
              <a:t>Jadual</a:t>
            </a:r>
            <a:r>
              <a:rPr lang="en-US" sz="1600" dirty="0" smtClean="0"/>
              <a:t> A ,</a:t>
            </a:r>
            <a:r>
              <a:rPr lang="en-US" sz="1600" dirty="0"/>
              <a:t> </a:t>
            </a:r>
            <a:r>
              <a:rPr lang="en-US" sz="1600" dirty="0" err="1" smtClean="0"/>
              <a:t>Perintah</a:t>
            </a:r>
            <a:r>
              <a:rPr lang="en-US" sz="1600" dirty="0" smtClean="0"/>
              <a:t> </a:t>
            </a:r>
            <a:r>
              <a:rPr lang="en-US" sz="1600" dirty="0" err="1" smtClean="0"/>
              <a:t>Cukai</a:t>
            </a:r>
            <a:r>
              <a:rPr lang="en-US" sz="1600" dirty="0" smtClean="0"/>
              <a:t> </a:t>
            </a:r>
            <a:r>
              <a:rPr lang="en-US" sz="1600" dirty="0" err="1" smtClean="0"/>
              <a:t>Jualan</a:t>
            </a:r>
            <a:r>
              <a:rPr lang="en-US" sz="1600" dirty="0" smtClean="0"/>
              <a:t> (Orang Yang </a:t>
            </a:r>
            <a:r>
              <a:rPr lang="en-US" sz="1600" dirty="0" err="1" smtClean="0"/>
              <a:t>Dikecualikan</a:t>
            </a:r>
            <a:r>
              <a:rPr lang="en-US" sz="1600" dirty="0" smtClean="0"/>
              <a:t> </a:t>
            </a:r>
            <a:r>
              <a:rPr lang="en-US" sz="1600" dirty="0" err="1" smtClean="0"/>
              <a:t>Daripada</a:t>
            </a:r>
            <a:r>
              <a:rPr lang="en-US" sz="1600" dirty="0" smtClean="0"/>
              <a:t> </a:t>
            </a:r>
            <a:r>
              <a:rPr lang="en-US" sz="1600" dirty="0" err="1" smtClean="0"/>
              <a:t>Pembayaran</a:t>
            </a:r>
            <a:r>
              <a:rPr lang="en-US" sz="1600" dirty="0" smtClean="0"/>
              <a:t> </a:t>
            </a:r>
            <a:r>
              <a:rPr lang="en-US" sz="1600" dirty="0" err="1" smtClean="0"/>
              <a:t>Cukai</a:t>
            </a:r>
            <a:r>
              <a:rPr lang="en-US" sz="1600" dirty="0" smtClean="0"/>
              <a:t> )2018</a:t>
            </a:r>
            <a:endParaRPr lang="en-MY" sz="1600" dirty="0"/>
          </a:p>
        </p:txBody>
      </p:sp>
      <p:sp>
        <p:nvSpPr>
          <p:cNvPr id="6" name="Rectangle 5"/>
          <p:cNvSpPr/>
          <p:nvPr/>
        </p:nvSpPr>
        <p:spPr>
          <a:xfrm>
            <a:off x="499471" y="2977943"/>
            <a:ext cx="7062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/>
              <a:t>PERUNTUKAN UNDANG-UNDANG YANG DIGUNAPAKAI </a:t>
            </a:r>
            <a:endParaRPr lang="en-MY" dirty="0" smtClean="0"/>
          </a:p>
          <a:p>
            <a:r>
              <a:rPr lang="en-MY" dirty="0" err="1" smtClean="0"/>
              <a:t>Perintah</a:t>
            </a:r>
            <a:r>
              <a:rPr lang="en-MY" dirty="0" smtClean="0"/>
              <a:t> </a:t>
            </a:r>
            <a:r>
              <a:rPr lang="en-MY" dirty="0" err="1"/>
              <a:t>Cukai</a:t>
            </a:r>
            <a:r>
              <a:rPr lang="en-MY" dirty="0"/>
              <a:t> </a:t>
            </a:r>
            <a:r>
              <a:rPr lang="en-MY" dirty="0" err="1"/>
              <a:t>Jualan</a:t>
            </a:r>
            <a:r>
              <a:rPr lang="en-MY" dirty="0"/>
              <a:t> (Orang Yang </a:t>
            </a:r>
            <a:r>
              <a:rPr lang="en-MY" dirty="0" err="1"/>
              <a:t>Dikecualikan</a:t>
            </a:r>
            <a:r>
              <a:rPr lang="en-MY" dirty="0"/>
              <a:t> </a:t>
            </a:r>
            <a:r>
              <a:rPr lang="en-MY" dirty="0" err="1"/>
              <a:t>Daripada</a:t>
            </a:r>
            <a:r>
              <a:rPr lang="en-MY" dirty="0"/>
              <a:t> </a:t>
            </a:r>
            <a:r>
              <a:rPr lang="en-MY" dirty="0" err="1"/>
              <a:t>Pembayaran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) (</a:t>
            </a:r>
            <a:r>
              <a:rPr lang="en-MY" dirty="0" err="1"/>
              <a:t>Pindaan</a:t>
            </a:r>
            <a:r>
              <a:rPr lang="en-MY" dirty="0"/>
              <a:t>) 2021 yang </a:t>
            </a:r>
            <a:r>
              <a:rPr lang="en-MY" dirty="0" err="1"/>
              <a:t>berkuatkuasa</a:t>
            </a:r>
            <a:r>
              <a:rPr lang="en-MY" dirty="0"/>
              <a:t> </a:t>
            </a:r>
            <a:r>
              <a:rPr lang="en-MY" dirty="0" err="1"/>
              <a:t>pada</a:t>
            </a:r>
            <a:r>
              <a:rPr lang="en-MY" dirty="0"/>
              <a:t> 15 Jun 2021. </a:t>
            </a:r>
          </a:p>
        </p:txBody>
      </p:sp>
    </p:spTree>
    <p:extLst>
      <p:ext uri="{BB962C8B-B14F-4D97-AF65-F5344CB8AC3E}">
        <p14:creationId xmlns:p14="http://schemas.microsoft.com/office/powerpoint/2010/main" val="1760884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7125" y="612845"/>
            <a:ext cx="7971415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/>
              <a:t>SYARAT-SYARAT PENGECUALIAN CUKAI JUALAN </a:t>
            </a:r>
            <a:endParaRPr lang="en-MY" dirty="0" smtClean="0"/>
          </a:p>
          <a:p>
            <a:r>
              <a:rPr lang="en-MY" dirty="0" err="1" smtClean="0"/>
              <a:t>Berdasarkan</a:t>
            </a:r>
            <a:r>
              <a:rPr lang="en-MY" dirty="0" smtClean="0"/>
              <a:t> </a:t>
            </a:r>
            <a:r>
              <a:rPr lang="en-MY" dirty="0" err="1"/>
              <a:t>ruang</a:t>
            </a:r>
            <a:r>
              <a:rPr lang="en-MY" dirty="0"/>
              <a:t> (4) </a:t>
            </a:r>
            <a:r>
              <a:rPr lang="en-MY" dirty="0" err="1"/>
              <a:t>Butiran</a:t>
            </a:r>
            <a:r>
              <a:rPr lang="en-MY" dirty="0"/>
              <a:t> 58A, </a:t>
            </a:r>
            <a:r>
              <a:rPr lang="en-MY" dirty="0" err="1"/>
              <a:t>Jadual</a:t>
            </a:r>
            <a:r>
              <a:rPr lang="en-MY" dirty="0"/>
              <a:t> A </a:t>
            </a:r>
            <a:r>
              <a:rPr lang="en-MY" dirty="0" err="1"/>
              <a:t>Perintah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 </a:t>
            </a:r>
            <a:r>
              <a:rPr lang="en-MY" dirty="0" err="1"/>
              <a:t>Jualan</a:t>
            </a:r>
            <a:r>
              <a:rPr lang="en-MY" dirty="0"/>
              <a:t> (Orang Yang </a:t>
            </a:r>
            <a:r>
              <a:rPr lang="en-MY" dirty="0" err="1"/>
              <a:t>Dikecualikan</a:t>
            </a:r>
            <a:r>
              <a:rPr lang="en-MY" dirty="0"/>
              <a:t> </a:t>
            </a:r>
            <a:r>
              <a:rPr lang="en-MY" dirty="0" err="1"/>
              <a:t>Daripada</a:t>
            </a:r>
            <a:r>
              <a:rPr lang="en-MY" dirty="0"/>
              <a:t> </a:t>
            </a:r>
            <a:r>
              <a:rPr lang="en-MY" dirty="0" err="1"/>
              <a:t>Pembayaran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) 2018, </a:t>
            </a:r>
            <a:r>
              <a:rPr lang="en-MY" dirty="0" err="1"/>
              <a:t>syarat-syarat</a:t>
            </a:r>
            <a:r>
              <a:rPr lang="en-MY" dirty="0"/>
              <a:t> </a:t>
            </a:r>
            <a:r>
              <a:rPr lang="en-MY" dirty="0" err="1"/>
              <a:t>pengecualian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 </a:t>
            </a:r>
            <a:r>
              <a:rPr lang="en-MY" dirty="0" err="1"/>
              <a:t>jualan</a:t>
            </a:r>
            <a:r>
              <a:rPr lang="en-MY" dirty="0"/>
              <a:t> </a:t>
            </a:r>
            <a:r>
              <a:rPr lang="en-MY" dirty="0" err="1"/>
              <a:t>adalah</a:t>
            </a:r>
            <a:r>
              <a:rPr lang="en-MY" dirty="0"/>
              <a:t> </a:t>
            </a:r>
            <a:r>
              <a:rPr lang="en-MY" dirty="0" err="1"/>
              <a:t>seperti</a:t>
            </a:r>
            <a:r>
              <a:rPr lang="en-MY" dirty="0"/>
              <a:t> </a:t>
            </a:r>
            <a:r>
              <a:rPr lang="en-MY" dirty="0" err="1"/>
              <a:t>berikut</a:t>
            </a:r>
            <a:r>
              <a:rPr lang="en-MY" dirty="0"/>
              <a:t>:- </a:t>
            </a:r>
            <a:endParaRPr lang="en-MY" dirty="0" smtClean="0"/>
          </a:p>
          <a:p>
            <a:endParaRPr lang="en-MY" dirty="0" smtClean="0"/>
          </a:p>
          <a:p>
            <a:r>
              <a:rPr lang="en-MY" dirty="0" err="1" smtClean="0"/>
              <a:t>i</a:t>
            </a:r>
            <a:r>
              <a:rPr lang="en-MY" dirty="0" smtClean="0"/>
              <a:t>)</a:t>
            </a:r>
            <a:r>
              <a:rPr lang="en-MY" dirty="0" err="1" smtClean="0"/>
              <a:t>Barang</a:t>
            </a:r>
            <a:r>
              <a:rPr lang="en-MY" dirty="0" smtClean="0"/>
              <a:t> </a:t>
            </a:r>
            <a:r>
              <a:rPr lang="en-MY" dirty="0" err="1"/>
              <a:t>tersebut</a:t>
            </a:r>
            <a:r>
              <a:rPr lang="en-MY" dirty="0"/>
              <a:t> </a:t>
            </a:r>
            <a:r>
              <a:rPr lang="en-MY" dirty="0" err="1"/>
              <a:t>dibeli</a:t>
            </a:r>
            <a:r>
              <a:rPr lang="en-MY" dirty="0"/>
              <a:t> </a:t>
            </a:r>
            <a:r>
              <a:rPr lang="en-MY" dirty="0" err="1"/>
              <a:t>daripada</a:t>
            </a:r>
            <a:r>
              <a:rPr lang="en-MY" dirty="0"/>
              <a:t> </a:t>
            </a:r>
            <a:r>
              <a:rPr lang="en-MY" dirty="0" err="1"/>
              <a:t>pengilang</a:t>
            </a:r>
            <a:r>
              <a:rPr lang="en-MY" dirty="0"/>
              <a:t> </a:t>
            </a:r>
            <a:r>
              <a:rPr lang="en-MY" dirty="0" err="1"/>
              <a:t>berdaftar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diangkut</a:t>
            </a:r>
            <a:r>
              <a:rPr lang="en-MY" dirty="0"/>
              <a:t> </a:t>
            </a:r>
            <a:r>
              <a:rPr lang="en-MY" dirty="0" err="1"/>
              <a:t>dari</a:t>
            </a:r>
            <a:r>
              <a:rPr lang="en-MY" dirty="0"/>
              <a:t> </a:t>
            </a:r>
            <a:r>
              <a:rPr lang="en-MY" dirty="0" err="1"/>
              <a:t>Kawasan</a:t>
            </a:r>
            <a:r>
              <a:rPr lang="en-MY" dirty="0"/>
              <a:t> </a:t>
            </a:r>
            <a:r>
              <a:rPr lang="en-MY" dirty="0" err="1"/>
              <a:t>Khas</a:t>
            </a:r>
            <a:r>
              <a:rPr lang="en-MY" dirty="0"/>
              <a:t>; </a:t>
            </a:r>
            <a:endParaRPr lang="en-MY" dirty="0" smtClean="0"/>
          </a:p>
          <a:p>
            <a:endParaRPr lang="en-MY" dirty="0" smtClean="0"/>
          </a:p>
          <a:p>
            <a:r>
              <a:rPr lang="en-MY" dirty="0" smtClean="0"/>
              <a:t>ii)</a:t>
            </a:r>
            <a:r>
              <a:rPr lang="en-MY" dirty="0" err="1" smtClean="0"/>
              <a:t>Barang</a:t>
            </a:r>
            <a:r>
              <a:rPr lang="en-MY" dirty="0" smtClean="0"/>
              <a:t> </a:t>
            </a:r>
            <a:r>
              <a:rPr lang="en-MY" dirty="0" err="1"/>
              <a:t>tersebut</a:t>
            </a:r>
            <a:r>
              <a:rPr lang="en-MY" dirty="0"/>
              <a:t> </a:t>
            </a:r>
            <a:r>
              <a:rPr lang="en-MY" dirty="0" err="1"/>
              <a:t>digunakan</a:t>
            </a:r>
            <a:r>
              <a:rPr lang="en-MY" dirty="0"/>
              <a:t> </a:t>
            </a:r>
            <a:r>
              <a:rPr lang="en-MY" dirty="0" err="1"/>
              <a:t>semata-mata</a:t>
            </a:r>
            <a:r>
              <a:rPr lang="en-MY" dirty="0"/>
              <a:t> </a:t>
            </a:r>
            <a:r>
              <a:rPr lang="en-MY" dirty="0" err="1"/>
              <a:t>sebagai</a:t>
            </a:r>
            <a:r>
              <a:rPr lang="en-MY" dirty="0"/>
              <a:t> </a:t>
            </a:r>
            <a:r>
              <a:rPr lang="en-MY" dirty="0" err="1"/>
              <a:t>minyak</a:t>
            </a:r>
            <a:r>
              <a:rPr lang="en-MY" dirty="0"/>
              <a:t> bunker </a:t>
            </a:r>
            <a:r>
              <a:rPr lang="en-MY" dirty="0" err="1"/>
              <a:t>bagi</a:t>
            </a:r>
            <a:r>
              <a:rPr lang="en-MY" dirty="0"/>
              <a:t> </a:t>
            </a:r>
            <a:r>
              <a:rPr lang="en-MY" dirty="0" err="1"/>
              <a:t>kapal</a:t>
            </a:r>
            <a:r>
              <a:rPr lang="en-MY" dirty="0"/>
              <a:t> </a:t>
            </a:r>
            <a:r>
              <a:rPr lang="en-MY" dirty="0" err="1"/>
              <a:t>termasuk</a:t>
            </a:r>
            <a:r>
              <a:rPr lang="en-MY" dirty="0"/>
              <a:t> bot </a:t>
            </a:r>
            <a:r>
              <a:rPr lang="en-MY" dirty="0" err="1"/>
              <a:t>nelayan</a:t>
            </a:r>
            <a:r>
              <a:rPr lang="en-MY" dirty="0"/>
              <a:t>; </a:t>
            </a:r>
            <a:endParaRPr lang="en-MY" dirty="0" smtClean="0"/>
          </a:p>
          <a:p>
            <a:endParaRPr lang="en-MY" dirty="0" smtClean="0"/>
          </a:p>
          <a:p>
            <a:r>
              <a:rPr lang="en-MY" dirty="0" smtClean="0"/>
              <a:t>iii)</a:t>
            </a:r>
            <a:r>
              <a:rPr lang="en-MY" dirty="0" err="1" smtClean="0"/>
              <a:t>Kapal</a:t>
            </a:r>
            <a:r>
              <a:rPr lang="en-MY" dirty="0" smtClean="0"/>
              <a:t> </a:t>
            </a:r>
            <a:r>
              <a:rPr lang="en-MY" dirty="0" err="1"/>
              <a:t>termasuk</a:t>
            </a:r>
            <a:r>
              <a:rPr lang="en-MY" dirty="0"/>
              <a:t> bot </a:t>
            </a:r>
            <a:r>
              <a:rPr lang="en-MY" dirty="0" err="1"/>
              <a:t>nelayan</a:t>
            </a:r>
            <a:r>
              <a:rPr lang="en-MY" dirty="0"/>
              <a:t> </a:t>
            </a:r>
            <a:r>
              <a:rPr lang="en-MY" dirty="0" err="1"/>
              <a:t>tersebut</a:t>
            </a:r>
            <a:r>
              <a:rPr lang="en-MY" dirty="0"/>
              <a:t> </a:t>
            </a:r>
            <a:r>
              <a:rPr lang="en-MY" dirty="0" err="1"/>
              <a:t>adalah</a:t>
            </a:r>
            <a:r>
              <a:rPr lang="en-MY" dirty="0"/>
              <a:t> </a:t>
            </a:r>
            <a:r>
              <a:rPr lang="en-MY" dirty="0" err="1"/>
              <a:t>seperti</a:t>
            </a:r>
            <a:r>
              <a:rPr lang="en-MY" dirty="0"/>
              <a:t> yang </a:t>
            </a:r>
            <a:r>
              <a:rPr lang="en-MY" dirty="0" err="1"/>
              <a:t>ditentukan</a:t>
            </a:r>
            <a:r>
              <a:rPr lang="en-MY" dirty="0"/>
              <a:t> </a:t>
            </a:r>
            <a:r>
              <a:rPr lang="en-MY" dirty="0" err="1"/>
              <a:t>oleh</a:t>
            </a:r>
            <a:r>
              <a:rPr lang="en-MY" dirty="0"/>
              <a:t> </a:t>
            </a:r>
            <a:r>
              <a:rPr lang="en-MY" dirty="0" err="1"/>
              <a:t>Ketua</a:t>
            </a:r>
            <a:r>
              <a:rPr lang="en-MY" dirty="0"/>
              <a:t> </a:t>
            </a:r>
            <a:r>
              <a:rPr lang="en-MY" dirty="0" err="1"/>
              <a:t>Pengarah</a:t>
            </a:r>
            <a:r>
              <a:rPr lang="en-MY" dirty="0"/>
              <a:t>; </a:t>
            </a:r>
            <a:endParaRPr lang="en-MY" dirty="0" smtClean="0"/>
          </a:p>
          <a:p>
            <a:endParaRPr lang="en-MY" dirty="0" smtClean="0"/>
          </a:p>
          <a:p>
            <a:r>
              <a:rPr lang="en-MY" dirty="0" smtClean="0"/>
              <a:t>iv)</a:t>
            </a:r>
            <a:r>
              <a:rPr lang="en-MY" dirty="0" err="1" smtClean="0"/>
              <a:t>Pembuktian</a:t>
            </a:r>
            <a:r>
              <a:rPr lang="en-MY" dirty="0" smtClean="0"/>
              <a:t> </a:t>
            </a:r>
            <a:r>
              <a:rPr lang="en-MY" dirty="0" err="1"/>
              <a:t>dapat</a:t>
            </a:r>
            <a:r>
              <a:rPr lang="en-MY" dirty="0"/>
              <a:t> </a:t>
            </a:r>
            <a:r>
              <a:rPr lang="en-MY" dirty="0" err="1"/>
              <a:t>dibuat</a:t>
            </a:r>
            <a:r>
              <a:rPr lang="en-MY" dirty="0"/>
              <a:t> </a:t>
            </a:r>
            <a:r>
              <a:rPr lang="en-MY" dirty="0" err="1"/>
              <a:t>dengan</a:t>
            </a:r>
            <a:r>
              <a:rPr lang="en-MY" dirty="0"/>
              <a:t> </a:t>
            </a:r>
            <a:r>
              <a:rPr lang="en-MY" dirty="0" err="1"/>
              <a:t>memuaskan</a:t>
            </a:r>
            <a:r>
              <a:rPr lang="en-MY" dirty="0"/>
              <a:t> </a:t>
            </a:r>
            <a:r>
              <a:rPr lang="en-MY" dirty="0" err="1"/>
              <a:t>hati</a:t>
            </a:r>
            <a:r>
              <a:rPr lang="en-MY" dirty="0"/>
              <a:t> </a:t>
            </a:r>
            <a:r>
              <a:rPr lang="en-MY" dirty="0" err="1"/>
              <a:t>Ketua</a:t>
            </a:r>
            <a:r>
              <a:rPr lang="en-MY" dirty="0"/>
              <a:t> </a:t>
            </a:r>
            <a:r>
              <a:rPr lang="en-MY" dirty="0" err="1"/>
              <a:t>Pengarah</a:t>
            </a:r>
            <a:r>
              <a:rPr lang="en-MY" dirty="0"/>
              <a:t> </a:t>
            </a:r>
            <a:r>
              <a:rPr lang="en-MY" dirty="0" err="1"/>
              <a:t>bahawa</a:t>
            </a:r>
            <a:r>
              <a:rPr lang="en-MY" dirty="0"/>
              <a:t> </a:t>
            </a:r>
            <a:r>
              <a:rPr lang="en-MY" dirty="0" err="1"/>
              <a:t>barang</a:t>
            </a:r>
            <a:r>
              <a:rPr lang="en-MY" dirty="0"/>
              <a:t> </a:t>
            </a:r>
            <a:r>
              <a:rPr lang="en-MY" dirty="0" err="1"/>
              <a:t>itu</a:t>
            </a:r>
            <a:r>
              <a:rPr lang="en-MY" dirty="0"/>
              <a:t> </a:t>
            </a:r>
            <a:r>
              <a:rPr lang="en-MY" dirty="0" err="1"/>
              <a:t>akan</a:t>
            </a:r>
            <a:r>
              <a:rPr lang="en-MY" dirty="0"/>
              <a:t> </a:t>
            </a:r>
            <a:r>
              <a:rPr lang="en-MY" dirty="0" err="1"/>
              <a:t>dihantar</a:t>
            </a:r>
            <a:r>
              <a:rPr lang="en-MY" dirty="0"/>
              <a:t> </a:t>
            </a:r>
            <a:r>
              <a:rPr lang="en-MY" dirty="0" err="1"/>
              <a:t>terus</a:t>
            </a:r>
            <a:r>
              <a:rPr lang="en-MY" dirty="0"/>
              <a:t> </a:t>
            </a:r>
            <a:r>
              <a:rPr lang="en-MY" dirty="0" err="1"/>
              <a:t>ke</a:t>
            </a:r>
            <a:r>
              <a:rPr lang="en-MY" dirty="0"/>
              <a:t> </a:t>
            </a:r>
            <a:r>
              <a:rPr lang="en-MY" dirty="0" err="1"/>
              <a:t>kapal</a:t>
            </a:r>
            <a:r>
              <a:rPr lang="en-MY" dirty="0"/>
              <a:t> </a:t>
            </a:r>
            <a:r>
              <a:rPr lang="en-MY" dirty="0" err="1"/>
              <a:t>termasuk</a:t>
            </a:r>
            <a:r>
              <a:rPr lang="en-MY" dirty="0"/>
              <a:t> bot </a:t>
            </a:r>
            <a:r>
              <a:rPr lang="en-MY" dirty="0" err="1"/>
              <a:t>nelayan</a:t>
            </a:r>
            <a:r>
              <a:rPr lang="en-MY" dirty="0" smtClean="0"/>
              <a:t>;</a:t>
            </a:r>
          </a:p>
          <a:p>
            <a:endParaRPr lang="en-MY" dirty="0"/>
          </a:p>
          <a:p>
            <a:r>
              <a:rPr lang="en-MY" dirty="0" smtClean="0"/>
              <a:t> v)Orang </a:t>
            </a:r>
            <a:r>
              <a:rPr lang="en-MY" dirty="0"/>
              <a:t>yang </a:t>
            </a:r>
            <a:r>
              <a:rPr lang="en-MY" dirty="0" err="1"/>
              <a:t>diberi</a:t>
            </a:r>
            <a:r>
              <a:rPr lang="en-MY" dirty="0"/>
              <a:t> </a:t>
            </a:r>
            <a:r>
              <a:rPr lang="en-MY" dirty="0" err="1"/>
              <a:t>pengecualian</a:t>
            </a:r>
            <a:r>
              <a:rPr lang="en-MY" dirty="0"/>
              <a:t> </a:t>
            </a:r>
            <a:r>
              <a:rPr lang="en-MY" dirty="0" err="1"/>
              <a:t>hendaklah</a:t>
            </a:r>
            <a:r>
              <a:rPr lang="en-MY" dirty="0"/>
              <a:t> </a:t>
            </a:r>
            <a:r>
              <a:rPr lang="en-MY" dirty="0" err="1"/>
              <a:t>mematuhi</a:t>
            </a:r>
            <a:r>
              <a:rPr lang="en-MY" dirty="0"/>
              <a:t> </a:t>
            </a:r>
            <a:r>
              <a:rPr lang="en-MY" dirty="0" err="1"/>
              <a:t>syarat-syarat</a:t>
            </a:r>
            <a:r>
              <a:rPr lang="en-MY" dirty="0"/>
              <a:t> lain yang </a:t>
            </a:r>
            <a:r>
              <a:rPr lang="en-MY" dirty="0" err="1"/>
              <a:t>ditetapkan</a:t>
            </a:r>
            <a:r>
              <a:rPr lang="en-MY" dirty="0"/>
              <a:t> </a:t>
            </a:r>
            <a:r>
              <a:rPr lang="en-MY" dirty="0" err="1"/>
              <a:t>oleh</a:t>
            </a:r>
            <a:r>
              <a:rPr lang="en-MY" dirty="0"/>
              <a:t> </a:t>
            </a:r>
            <a:r>
              <a:rPr lang="en-MY" dirty="0" err="1"/>
              <a:t>Ketua</a:t>
            </a:r>
            <a:r>
              <a:rPr lang="en-MY" dirty="0"/>
              <a:t> </a:t>
            </a:r>
            <a:r>
              <a:rPr lang="en-MY" dirty="0" err="1"/>
              <a:t>Pengarah</a:t>
            </a:r>
            <a:r>
              <a:rPr lang="en-MY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8691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2503" y="298131"/>
            <a:ext cx="772936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/>
              <a:t>BARANG YANG DIBERI </a:t>
            </a:r>
            <a:r>
              <a:rPr lang="en-MY" dirty="0" smtClean="0"/>
              <a:t>PENGECUALIAN</a:t>
            </a:r>
          </a:p>
          <a:p>
            <a:r>
              <a:rPr lang="en-MY" dirty="0" smtClean="0"/>
              <a:t> </a:t>
            </a:r>
            <a:r>
              <a:rPr lang="en-MY" dirty="0" err="1"/>
              <a:t>Senarai</a:t>
            </a:r>
            <a:r>
              <a:rPr lang="en-MY" dirty="0"/>
              <a:t> </a:t>
            </a:r>
            <a:r>
              <a:rPr lang="en-MY" dirty="0" err="1"/>
              <a:t>barang-barang</a:t>
            </a:r>
            <a:r>
              <a:rPr lang="en-MY" dirty="0"/>
              <a:t> yang </a:t>
            </a:r>
            <a:r>
              <a:rPr lang="en-MY" dirty="0" err="1"/>
              <a:t>diberi</a:t>
            </a:r>
            <a:r>
              <a:rPr lang="en-MY" dirty="0"/>
              <a:t> </a:t>
            </a:r>
            <a:r>
              <a:rPr lang="en-MY" dirty="0" err="1"/>
              <a:t>pengecualian</a:t>
            </a:r>
            <a:r>
              <a:rPr lang="en-MY" dirty="0"/>
              <a:t> </a:t>
            </a:r>
            <a:r>
              <a:rPr lang="en-MY" dirty="0" err="1"/>
              <a:t>cukai</a:t>
            </a:r>
            <a:r>
              <a:rPr lang="en-MY" dirty="0"/>
              <a:t> </a:t>
            </a:r>
            <a:r>
              <a:rPr lang="en-MY" dirty="0" err="1"/>
              <a:t>jualan</a:t>
            </a:r>
            <a:r>
              <a:rPr lang="en-MY" dirty="0"/>
              <a:t> </a:t>
            </a:r>
            <a:r>
              <a:rPr lang="en-MY" dirty="0" err="1"/>
              <a:t>adalah</a:t>
            </a:r>
            <a:r>
              <a:rPr lang="en-MY" dirty="0"/>
              <a:t> </a:t>
            </a:r>
            <a:r>
              <a:rPr lang="en-MY" dirty="0" err="1"/>
              <a:t>seperti</a:t>
            </a:r>
            <a:r>
              <a:rPr lang="en-MY" dirty="0"/>
              <a:t> </a:t>
            </a:r>
            <a:r>
              <a:rPr lang="en-MY" dirty="0" err="1"/>
              <a:t>berikut</a:t>
            </a:r>
            <a:r>
              <a:rPr lang="en-MY" dirty="0"/>
              <a:t>:- </a:t>
            </a:r>
            <a:endParaRPr lang="en-MY" dirty="0" smtClean="0"/>
          </a:p>
          <a:p>
            <a:pPr marL="342900" indent="-342900">
              <a:buAutoNum type="alphaLcParenR"/>
            </a:pPr>
            <a:r>
              <a:rPr lang="en-MY" dirty="0" smtClean="0"/>
              <a:t>Diesel </a:t>
            </a:r>
            <a:r>
              <a:rPr lang="en-MY" dirty="0"/>
              <a:t>fuel</a:t>
            </a:r>
            <a:r>
              <a:rPr lang="en-MY" dirty="0" smtClean="0"/>
              <a:t>;</a:t>
            </a:r>
          </a:p>
          <a:p>
            <a:pPr marL="342900" indent="-342900">
              <a:buAutoNum type="alphaLcParenR"/>
            </a:pPr>
            <a:r>
              <a:rPr lang="en-MY" dirty="0" smtClean="0"/>
              <a:t>Liquefied </a:t>
            </a:r>
            <a:r>
              <a:rPr lang="en-MY" dirty="0"/>
              <a:t>natural gas; </a:t>
            </a:r>
            <a:endParaRPr lang="en-MY" dirty="0" smtClean="0"/>
          </a:p>
          <a:p>
            <a:pPr marL="342900" indent="-342900">
              <a:buAutoNum type="alphaLcParenR"/>
            </a:pPr>
            <a:r>
              <a:rPr lang="en-MY" dirty="0" smtClean="0"/>
              <a:t>Lubricating </a:t>
            </a:r>
            <a:r>
              <a:rPr lang="en-MY" dirty="0"/>
              <a:t>oil; </a:t>
            </a:r>
            <a:r>
              <a:rPr lang="en-MY" dirty="0" err="1"/>
              <a:t>dan</a:t>
            </a:r>
            <a:r>
              <a:rPr lang="en-MY" dirty="0"/>
              <a:t> </a:t>
            </a:r>
            <a:endParaRPr lang="en-MY" dirty="0" smtClean="0"/>
          </a:p>
          <a:p>
            <a:pPr marL="342900" indent="-342900">
              <a:buAutoNum type="alphaLcParenR"/>
            </a:pPr>
            <a:r>
              <a:rPr lang="en-MY" dirty="0" smtClean="0"/>
              <a:t>Greases </a:t>
            </a:r>
          </a:p>
          <a:p>
            <a:r>
              <a:rPr lang="en-MY" dirty="0" err="1" smtClean="0"/>
              <a:t>Barang-barang</a:t>
            </a:r>
            <a:r>
              <a:rPr lang="en-MY" dirty="0" smtClean="0"/>
              <a:t> </a:t>
            </a:r>
            <a:r>
              <a:rPr lang="en-MY" dirty="0"/>
              <a:t>yang </a:t>
            </a:r>
            <a:r>
              <a:rPr lang="en-MY" dirty="0" err="1"/>
              <a:t>diberi</a:t>
            </a:r>
            <a:r>
              <a:rPr lang="en-MY" dirty="0"/>
              <a:t> </a:t>
            </a:r>
            <a:r>
              <a:rPr lang="en-MY" dirty="0" err="1"/>
              <a:t>pengecualian</a:t>
            </a:r>
            <a:r>
              <a:rPr lang="en-MY" dirty="0"/>
              <a:t> </a:t>
            </a:r>
            <a:r>
              <a:rPr lang="en-MY" dirty="0" err="1"/>
              <a:t>adalah</a:t>
            </a:r>
            <a:r>
              <a:rPr lang="en-MY" dirty="0"/>
              <a:t> di </a:t>
            </a:r>
            <a:r>
              <a:rPr lang="en-MY" dirty="0" err="1"/>
              <a:t>bawah</a:t>
            </a:r>
            <a:r>
              <a:rPr lang="en-MY" dirty="0"/>
              <a:t> </a:t>
            </a:r>
            <a:r>
              <a:rPr lang="en-MY" dirty="0" err="1"/>
              <a:t>subkepala</a:t>
            </a:r>
            <a:r>
              <a:rPr lang="en-MY" dirty="0"/>
              <a:t> 2710.19.7200, 2711.11.0000, 2710.19.4300, 2710.19.4400, 2710.19.2000, 2710.19.3000 </a:t>
            </a:r>
            <a:r>
              <a:rPr lang="en-MY" dirty="0" err="1"/>
              <a:t>dan</a:t>
            </a:r>
            <a:r>
              <a:rPr lang="en-MY" dirty="0"/>
              <a:t> 2710.19.9000 </a:t>
            </a:r>
            <a:r>
              <a:rPr lang="en-MY" dirty="0" err="1"/>
              <a:t>Perintah</a:t>
            </a:r>
            <a:r>
              <a:rPr lang="en-MY" dirty="0"/>
              <a:t> </a:t>
            </a:r>
            <a:r>
              <a:rPr lang="en-MY" dirty="0" err="1"/>
              <a:t>Duti</a:t>
            </a:r>
            <a:r>
              <a:rPr lang="en-MY" dirty="0"/>
              <a:t> </a:t>
            </a:r>
            <a:r>
              <a:rPr lang="en-MY" dirty="0" err="1"/>
              <a:t>Kastam</a:t>
            </a:r>
            <a:r>
              <a:rPr lang="en-MY" dirty="0"/>
              <a:t> yang </a:t>
            </a:r>
            <a:r>
              <a:rPr lang="en-MY" dirty="0" err="1"/>
              <a:t>terpakai</a:t>
            </a:r>
            <a:r>
              <a:rPr lang="en-MY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2548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5599" y="391853"/>
            <a:ext cx="84178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dirty="0" smtClean="0"/>
              <a:t>TATACARA </a:t>
            </a:r>
            <a:r>
              <a:rPr lang="en-MY" dirty="0"/>
              <a:t>PERMOHONAN SIJIL PENGECUALIAN </a:t>
            </a:r>
            <a:endParaRPr lang="en-MY" dirty="0" smtClean="0"/>
          </a:p>
          <a:p>
            <a:r>
              <a:rPr lang="en-MY" dirty="0" err="1" smtClean="0"/>
              <a:t>Pemohon</a:t>
            </a:r>
            <a:r>
              <a:rPr lang="en-MY" dirty="0" smtClean="0"/>
              <a:t> </a:t>
            </a:r>
            <a:r>
              <a:rPr lang="en-MY" dirty="0" err="1"/>
              <a:t>perlu</a:t>
            </a:r>
            <a:r>
              <a:rPr lang="en-MY" dirty="0"/>
              <a:t> </a:t>
            </a:r>
            <a:r>
              <a:rPr lang="en-MY" dirty="0" err="1" smtClean="0"/>
              <a:t>terlebih</a:t>
            </a:r>
            <a:r>
              <a:rPr lang="en-MY" dirty="0" smtClean="0"/>
              <a:t> </a:t>
            </a:r>
            <a:r>
              <a:rPr lang="en-MY" dirty="0" err="1" smtClean="0"/>
              <a:t>dahulu</a:t>
            </a:r>
            <a:r>
              <a:rPr lang="en-MY" dirty="0" smtClean="0"/>
              <a:t> </a:t>
            </a:r>
            <a:r>
              <a:rPr lang="en-MY" dirty="0" err="1" smtClean="0"/>
              <a:t>memohon</a:t>
            </a:r>
            <a:r>
              <a:rPr lang="en-MY" dirty="0" smtClean="0"/>
              <a:t> ID </a:t>
            </a:r>
            <a:r>
              <a:rPr lang="en-MY" dirty="0" err="1" smtClean="0"/>
              <a:t>pengguna</a:t>
            </a:r>
            <a:r>
              <a:rPr lang="en-MY" dirty="0" smtClean="0"/>
              <a:t> </a:t>
            </a:r>
            <a:r>
              <a:rPr lang="en-MY" dirty="0" err="1" smtClean="0"/>
              <a:t>dan</a:t>
            </a:r>
            <a:r>
              <a:rPr lang="en-MY" dirty="0" smtClean="0"/>
              <a:t> </a:t>
            </a:r>
            <a:r>
              <a:rPr lang="en-MY" dirty="0" err="1" smtClean="0"/>
              <a:t>katalaluan</a:t>
            </a:r>
            <a:r>
              <a:rPr lang="en-MY" dirty="0" smtClean="0"/>
              <a:t> </a:t>
            </a:r>
            <a:r>
              <a:rPr lang="en-MY" dirty="0" err="1" smtClean="0"/>
              <a:t>MyPetroleum</a:t>
            </a:r>
            <a:r>
              <a:rPr lang="en-MY" dirty="0" smtClean="0"/>
              <a:t> </a:t>
            </a:r>
            <a:r>
              <a:rPr lang="en-MY" dirty="0" err="1" smtClean="0"/>
              <a:t>dari</a:t>
            </a:r>
            <a:r>
              <a:rPr lang="en-MY" dirty="0" smtClean="0"/>
              <a:t> JKDM Melaka </a:t>
            </a:r>
            <a:r>
              <a:rPr lang="en-MY" dirty="0" err="1" smtClean="0"/>
              <a:t>bagi</a:t>
            </a:r>
            <a:r>
              <a:rPr lang="en-MY" dirty="0" smtClean="0"/>
              <a:t> log </a:t>
            </a:r>
            <a:r>
              <a:rPr lang="en-MY" dirty="0" err="1" smtClean="0"/>
              <a:t>masuk</a:t>
            </a:r>
            <a:r>
              <a:rPr lang="en-MY" dirty="0" smtClean="0"/>
              <a:t> </a:t>
            </a:r>
            <a:r>
              <a:rPr lang="en-MY" dirty="0" err="1" smtClean="0"/>
              <a:t>ke</a:t>
            </a:r>
            <a:r>
              <a:rPr lang="en-MY" dirty="0" smtClean="0"/>
              <a:t> </a:t>
            </a:r>
            <a:r>
              <a:rPr lang="en-MY" dirty="0" err="1" smtClean="0"/>
              <a:t>dalam</a:t>
            </a:r>
            <a:r>
              <a:rPr lang="en-MY" dirty="0" smtClean="0"/>
              <a:t> </a:t>
            </a:r>
            <a:r>
              <a:rPr lang="en-MY" dirty="0" err="1" smtClean="0"/>
              <a:t>sistem</a:t>
            </a:r>
            <a:r>
              <a:rPr lang="en-MY" dirty="0" smtClean="0"/>
              <a:t> . </a:t>
            </a:r>
          </a:p>
          <a:p>
            <a:r>
              <a:rPr lang="en-US" dirty="0" err="1" smtClean="0"/>
              <a:t>Borang</a:t>
            </a:r>
            <a:r>
              <a:rPr lang="en-US" dirty="0" smtClean="0"/>
              <a:t> ID </a:t>
            </a:r>
            <a:r>
              <a:rPr lang="en-US" dirty="0" err="1" smtClean="0"/>
              <a:t>boleh</a:t>
            </a:r>
            <a:r>
              <a:rPr lang="en-US" dirty="0" smtClean="0"/>
              <a:t> </a:t>
            </a:r>
            <a:r>
              <a:rPr lang="en-US" dirty="0" err="1" smtClean="0"/>
              <a:t>diemel</a:t>
            </a:r>
            <a:r>
              <a:rPr lang="en-US" dirty="0" smtClean="0"/>
              <a:t> </a:t>
            </a:r>
            <a:r>
              <a:rPr lang="en-US" dirty="0" err="1" smtClean="0"/>
              <a:t>kepada</a:t>
            </a:r>
            <a:r>
              <a:rPr lang="en-US" dirty="0" smtClean="0"/>
              <a:t> </a:t>
            </a:r>
            <a:r>
              <a:rPr lang="en-US" dirty="0" err="1" smtClean="0"/>
              <a:t>pentadbir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hairulazuan.hairullah@customs.gov.my</a:t>
            </a:r>
            <a:endParaRPr lang="en-MY" dirty="0" smtClean="0"/>
          </a:p>
          <a:p>
            <a:endParaRPr lang="en-MY" dirty="0" smtClean="0"/>
          </a:p>
          <a:p>
            <a:r>
              <a:rPr lang="en-MY" dirty="0" err="1" smtClean="0"/>
              <a:t>Dokumen-dokumen</a:t>
            </a:r>
            <a:r>
              <a:rPr lang="en-MY" dirty="0" smtClean="0"/>
              <a:t>  :-</a:t>
            </a:r>
          </a:p>
          <a:p>
            <a:r>
              <a:rPr lang="en-MY" dirty="0" err="1" smtClean="0"/>
              <a:t>i</a:t>
            </a:r>
            <a:r>
              <a:rPr lang="en-MY" dirty="0" smtClean="0"/>
              <a:t>)</a:t>
            </a:r>
            <a:r>
              <a:rPr lang="en-MY" dirty="0" err="1" smtClean="0"/>
              <a:t>Kebenaran</a:t>
            </a:r>
            <a:r>
              <a:rPr lang="en-MY" dirty="0" smtClean="0"/>
              <a:t> </a:t>
            </a:r>
            <a:r>
              <a:rPr lang="en-MY" dirty="0"/>
              <a:t>PDA 2 ; </a:t>
            </a:r>
            <a:endParaRPr lang="en-MY" dirty="0" smtClean="0"/>
          </a:p>
          <a:p>
            <a:r>
              <a:rPr lang="en-MY" dirty="0" smtClean="0"/>
              <a:t>ii)</a:t>
            </a:r>
            <a:r>
              <a:rPr lang="en-MY" dirty="0" err="1" smtClean="0"/>
              <a:t>Surat</a:t>
            </a:r>
            <a:r>
              <a:rPr lang="en-MY" dirty="0" smtClean="0"/>
              <a:t> </a:t>
            </a:r>
            <a:r>
              <a:rPr lang="en-MY" dirty="0" err="1"/>
              <a:t>Kelulusan</a:t>
            </a:r>
            <a:r>
              <a:rPr lang="en-MY" dirty="0"/>
              <a:t> </a:t>
            </a:r>
            <a:r>
              <a:rPr lang="en-MY" dirty="0" err="1"/>
              <a:t>Menjalankan</a:t>
            </a:r>
            <a:r>
              <a:rPr lang="en-MY" dirty="0"/>
              <a:t> </a:t>
            </a:r>
            <a:r>
              <a:rPr lang="en-MY" dirty="0" err="1"/>
              <a:t>Aktiviti</a:t>
            </a:r>
            <a:r>
              <a:rPr lang="en-MY" dirty="0"/>
              <a:t> </a:t>
            </a:r>
            <a:r>
              <a:rPr lang="en-MY" dirty="0" err="1"/>
              <a:t>Pembekalan</a:t>
            </a:r>
            <a:r>
              <a:rPr lang="en-MY" dirty="0"/>
              <a:t> </a:t>
            </a:r>
            <a:r>
              <a:rPr lang="en-MY" dirty="0" err="1"/>
              <a:t>Bekalan</a:t>
            </a:r>
            <a:r>
              <a:rPr lang="en-MY" dirty="0"/>
              <a:t> </a:t>
            </a:r>
            <a:r>
              <a:rPr lang="en-MY" dirty="0" err="1"/>
              <a:t>Kapal</a:t>
            </a:r>
            <a:r>
              <a:rPr lang="en-MY" dirty="0"/>
              <a:t> yang </a:t>
            </a:r>
            <a:r>
              <a:rPr lang="en-MY" dirty="0" err="1"/>
              <a:t>dikeluarkan</a:t>
            </a:r>
            <a:r>
              <a:rPr lang="en-MY" dirty="0"/>
              <a:t> </a:t>
            </a:r>
            <a:r>
              <a:rPr lang="en-MY" dirty="0" err="1"/>
              <a:t>oleh</a:t>
            </a:r>
            <a:r>
              <a:rPr lang="en-MY" dirty="0"/>
              <a:t> </a:t>
            </a:r>
            <a:r>
              <a:rPr lang="en-MY" dirty="0" err="1"/>
              <a:t>Bahagian</a:t>
            </a:r>
            <a:r>
              <a:rPr lang="en-MY" dirty="0"/>
              <a:t> </a:t>
            </a:r>
            <a:r>
              <a:rPr lang="en-MY" dirty="0" err="1"/>
              <a:t>Perkastaman</a:t>
            </a:r>
            <a:r>
              <a:rPr lang="en-MY" dirty="0"/>
              <a:t>, </a:t>
            </a:r>
            <a:r>
              <a:rPr lang="en-MY" dirty="0" err="1"/>
              <a:t>Jabatan</a:t>
            </a:r>
            <a:r>
              <a:rPr lang="en-MY" dirty="0"/>
              <a:t> </a:t>
            </a:r>
            <a:r>
              <a:rPr lang="en-MY" dirty="0" err="1"/>
              <a:t>Kastam</a:t>
            </a:r>
            <a:r>
              <a:rPr lang="en-MY" dirty="0"/>
              <a:t> </a:t>
            </a:r>
            <a:r>
              <a:rPr lang="en-MY" dirty="0" err="1"/>
              <a:t>Diraja</a:t>
            </a:r>
            <a:r>
              <a:rPr lang="en-MY" dirty="0"/>
              <a:t> Malaysia. </a:t>
            </a:r>
            <a:endParaRPr lang="en-MY" dirty="0" smtClean="0"/>
          </a:p>
          <a:p>
            <a:endParaRPr lang="en-MY" dirty="0"/>
          </a:p>
          <a:p>
            <a:r>
              <a:rPr lang="en-MY" dirty="0" err="1" smtClean="0"/>
              <a:t>Bagi</a:t>
            </a:r>
            <a:r>
              <a:rPr lang="en-MY" dirty="0" smtClean="0"/>
              <a:t> </a:t>
            </a:r>
            <a:r>
              <a:rPr lang="en-MY" dirty="0" err="1"/>
              <a:t>pemohon</a:t>
            </a:r>
            <a:r>
              <a:rPr lang="en-MY" dirty="0"/>
              <a:t> yang </a:t>
            </a:r>
            <a:r>
              <a:rPr lang="en-MY" dirty="0" err="1"/>
              <a:t>memiliki</a:t>
            </a:r>
            <a:r>
              <a:rPr lang="en-MY" dirty="0"/>
              <a:t> </a:t>
            </a:r>
            <a:r>
              <a:rPr lang="en-MY" dirty="0" err="1"/>
              <a:t>lebih</a:t>
            </a:r>
            <a:r>
              <a:rPr lang="en-MY" dirty="0"/>
              <a:t> </a:t>
            </a:r>
            <a:r>
              <a:rPr lang="en-MY" dirty="0" err="1"/>
              <a:t>dari</a:t>
            </a:r>
            <a:r>
              <a:rPr lang="en-MY" dirty="0"/>
              <a:t> </a:t>
            </a:r>
            <a:r>
              <a:rPr lang="en-MY" dirty="0" err="1"/>
              <a:t>satu</a:t>
            </a:r>
            <a:r>
              <a:rPr lang="en-MY" dirty="0"/>
              <a:t> </a:t>
            </a:r>
            <a:r>
              <a:rPr lang="en-MY" dirty="0" err="1"/>
              <a:t>Kebenaran</a:t>
            </a:r>
            <a:r>
              <a:rPr lang="en-MY" dirty="0"/>
              <a:t> PDA 2, </a:t>
            </a:r>
            <a:endParaRPr lang="en-MY" dirty="0" smtClean="0"/>
          </a:p>
          <a:p>
            <a:r>
              <a:rPr lang="en-MY" dirty="0" err="1" smtClean="0"/>
              <a:t>permohonan</a:t>
            </a:r>
            <a:r>
              <a:rPr lang="en-MY" dirty="0" smtClean="0"/>
              <a:t> </a:t>
            </a:r>
            <a:r>
              <a:rPr lang="en-MY" dirty="0" err="1"/>
              <a:t>perlu</a:t>
            </a:r>
            <a:r>
              <a:rPr lang="en-MY" dirty="0"/>
              <a:t> </a:t>
            </a:r>
            <a:r>
              <a:rPr lang="en-MY" dirty="0" err="1"/>
              <a:t>dikemukakan</a:t>
            </a:r>
            <a:r>
              <a:rPr lang="en-MY" dirty="0"/>
              <a:t> </a:t>
            </a:r>
            <a:r>
              <a:rPr lang="en-MY" dirty="0" err="1"/>
              <a:t>secara</a:t>
            </a:r>
            <a:r>
              <a:rPr lang="en-MY" dirty="0"/>
              <a:t> </a:t>
            </a:r>
            <a:r>
              <a:rPr lang="en-MY" dirty="0" err="1"/>
              <a:t>berasingan</a:t>
            </a:r>
            <a:r>
              <a:rPr lang="en-MY" dirty="0"/>
              <a:t>; </a:t>
            </a:r>
            <a:endParaRPr lang="en-MY" dirty="0" smtClean="0"/>
          </a:p>
          <a:p>
            <a:endParaRPr lang="en-MY" dirty="0" smtClean="0"/>
          </a:p>
          <a:p>
            <a:r>
              <a:rPr lang="en-MY" dirty="0" err="1" smtClean="0"/>
              <a:t>Surat</a:t>
            </a:r>
            <a:r>
              <a:rPr lang="en-MY" dirty="0" smtClean="0"/>
              <a:t> </a:t>
            </a:r>
            <a:r>
              <a:rPr lang="en-MY" dirty="0" err="1"/>
              <a:t>Kelulusan</a:t>
            </a:r>
            <a:r>
              <a:rPr lang="en-MY" dirty="0"/>
              <a:t> </a:t>
            </a:r>
            <a:r>
              <a:rPr lang="en-MY" dirty="0" err="1"/>
              <a:t>Menjalankan</a:t>
            </a:r>
            <a:r>
              <a:rPr lang="en-MY" dirty="0"/>
              <a:t> </a:t>
            </a:r>
            <a:r>
              <a:rPr lang="en-MY" dirty="0" err="1"/>
              <a:t>Aktiviti</a:t>
            </a:r>
            <a:r>
              <a:rPr lang="en-MY" dirty="0"/>
              <a:t> </a:t>
            </a:r>
            <a:r>
              <a:rPr lang="en-MY" dirty="0" err="1"/>
              <a:t>Pembekalan</a:t>
            </a:r>
            <a:r>
              <a:rPr lang="en-MY" dirty="0"/>
              <a:t> </a:t>
            </a:r>
            <a:r>
              <a:rPr lang="en-MY" dirty="0" err="1"/>
              <a:t>Bekalan</a:t>
            </a:r>
            <a:r>
              <a:rPr lang="en-MY" dirty="0"/>
              <a:t> </a:t>
            </a:r>
            <a:r>
              <a:rPr lang="en-MY" dirty="0" err="1"/>
              <a:t>Kapal</a:t>
            </a:r>
            <a:r>
              <a:rPr lang="en-MY" dirty="0"/>
              <a:t> yang </a:t>
            </a:r>
            <a:r>
              <a:rPr lang="en-MY" dirty="0" err="1"/>
              <a:t>dikemukakan</a:t>
            </a:r>
            <a:r>
              <a:rPr lang="en-MY" dirty="0"/>
              <a:t> </a:t>
            </a:r>
            <a:r>
              <a:rPr lang="en-MY" dirty="0" err="1"/>
              <a:t>hendaklah</a:t>
            </a:r>
            <a:r>
              <a:rPr lang="en-MY" dirty="0"/>
              <a:t> </a:t>
            </a:r>
            <a:r>
              <a:rPr lang="en-MY" dirty="0" err="1"/>
              <a:t>berdasarkan</a:t>
            </a:r>
            <a:r>
              <a:rPr lang="en-MY" dirty="0"/>
              <a:t> </a:t>
            </a:r>
            <a:r>
              <a:rPr lang="en-MY" dirty="0" err="1" smtClean="0"/>
              <a:t>maklum</a:t>
            </a:r>
            <a:r>
              <a:rPr lang="en-MY" dirty="0" smtClean="0"/>
              <a:t> </a:t>
            </a:r>
            <a:r>
              <a:rPr lang="en-MY" dirty="0" err="1" smtClean="0"/>
              <a:t>Kebenaran</a:t>
            </a:r>
            <a:r>
              <a:rPr lang="en-MY" dirty="0" smtClean="0"/>
              <a:t> </a:t>
            </a:r>
            <a:r>
              <a:rPr lang="en-MY" dirty="0"/>
              <a:t>PDA 2. </a:t>
            </a:r>
            <a:endParaRPr lang="en-MY" dirty="0" smtClean="0"/>
          </a:p>
          <a:p>
            <a:endParaRPr lang="en-MY" dirty="0"/>
          </a:p>
          <a:p>
            <a:r>
              <a:rPr lang="en-MY" dirty="0" err="1" smtClean="0"/>
              <a:t>Dokumen-dokumen</a:t>
            </a:r>
            <a:r>
              <a:rPr lang="en-MY" dirty="0" smtClean="0"/>
              <a:t> yang </a:t>
            </a:r>
            <a:r>
              <a:rPr lang="en-MY" dirty="0" err="1"/>
              <a:t>telah</a:t>
            </a:r>
            <a:r>
              <a:rPr lang="en-MY" dirty="0"/>
              <a:t> </a:t>
            </a:r>
            <a:r>
              <a:rPr lang="en-MY" dirty="0" err="1"/>
              <a:t>lengkap</a:t>
            </a:r>
            <a:r>
              <a:rPr lang="en-MY" dirty="0"/>
              <a:t> </a:t>
            </a:r>
            <a:r>
              <a:rPr lang="en-MY" dirty="0" err="1" smtClean="0"/>
              <a:t>hendaklah</a:t>
            </a:r>
            <a:r>
              <a:rPr lang="en-MY" dirty="0" smtClean="0"/>
              <a:t> </a:t>
            </a:r>
            <a:r>
              <a:rPr lang="en-MY" dirty="0" err="1" smtClean="0"/>
              <a:t>dimuat</a:t>
            </a:r>
            <a:r>
              <a:rPr lang="en-MY" dirty="0" smtClean="0"/>
              <a:t> </a:t>
            </a:r>
            <a:r>
              <a:rPr lang="en-MY" dirty="0" err="1" smtClean="0"/>
              <a:t>naik</a:t>
            </a:r>
            <a:r>
              <a:rPr lang="en-MY" dirty="0" smtClean="0"/>
              <a:t> di </a:t>
            </a:r>
            <a:r>
              <a:rPr lang="en-MY" dirty="0" err="1" smtClean="0"/>
              <a:t>dalam</a:t>
            </a:r>
            <a:r>
              <a:rPr lang="en-MY" dirty="0" smtClean="0"/>
              <a:t> </a:t>
            </a:r>
            <a:r>
              <a:rPr lang="en-MY" dirty="0" err="1" smtClean="0"/>
              <a:t>MyPetroleum</a:t>
            </a:r>
            <a:r>
              <a:rPr lang="en-MY" dirty="0" smtClean="0"/>
              <a:t>. </a:t>
            </a:r>
          </a:p>
          <a:p>
            <a:endParaRPr lang="en-MY" dirty="0"/>
          </a:p>
          <a:p>
            <a:r>
              <a:rPr lang="en-MY" dirty="0" err="1" smtClean="0"/>
              <a:t>Penentuan</a:t>
            </a:r>
            <a:r>
              <a:rPr lang="en-MY" dirty="0" smtClean="0"/>
              <a:t> </a:t>
            </a:r>
            <a:r>
              <a:rPr lang="en-MY" dirty="0" err="1"/>
              <a:t>stesen</a:t>
            </a:r>
            <a:r>
              <a:rPr lang="en-MY" dirty="0"/>
              <a:t> </a:t>
            </a:r>
            <a:r>
              <a:rPr lang="en-MY" dirty="0" err="1"/>
              <a:t>mengawal</a:t>
            </a:r>
            <a:r>
              <a:rPr lang="en-MY" dirty="0"/>
              <a:t> </a:t>
            </a:r>
            <a:r>
              <a:rPr lang="en-MY" dirty="0" err="1"/>
              <a:t>adalah</a:t>
            </a:r>
            <a:r>
              <a:rPr lang="en-MY" dirty="0"/>
              <a:t> </a:t>
            </a:r>
            <a:r>
              <a:rPr lang="en-MY" dirty="0" err="1"/>
              <a:t>berdasarkan</a:t>
            </a:r>
            <a:r>
              <a:rPr lang="en-MY" dirty="0"/>
              <a:t> </a:t>
            </a:r>
            <a:r>
              <a:rPr lang="en-MY" dirty="0" err="1"/>
              <a:t>poskod</a:t>
            </a:r>
            <a:r>
              <a:rPr lang="en-MY" dirty="0"/>
              <a:t> </a:t>
            </a:r>
            <a:r>
              <a:rPr lang="en-MY" dirty="0" err="1"/>
              <a:t>alamat</a:t>
            </a:r>
            <a:r>
              <a:rPr lang="en-MY" dirty="0"/>
              <a:t> </a:t>
            </a:r>
            <a:r>
              <a:rPr lang="en-MY" dirty="0" err="1"/>
              <a:t>premis</a:t>
            </a:r>
            <a:r>
              <a:rPr lang="en-MY" dirty="0"/>
              <a:t> </a:t>
            </a:r>
            <a:r>
              <a:rPr lang="en-MY" dirty="0" err="1"/>
              <a:t>perniagaan</a:t>
            </a:r>
            <a:r>
              <a:rPr lang="en-MY" dirty="0"/>
              <a:t> di </a:t>
            </a:r>
            <a:r>
              <a:rPr lang="en-MY" dirty="0" err="1"/>
              <a:t>mana</a:t>
            </a:r>
            <a:r>
              <a:rPr lang="en-MY" dirty="0"/>
              <a:t> </a:t>
            </a:r>
            <a:r>
              <a:rPr lang="en-MY" dirty="0" err="1" smtClean="0"/>
              <a:t>pemohon</a:t>
            </a:r>
            <a:r>
              <a:rPr lang="en-MY" dirty="0" smtClean="0"/>
              <a:t> </a:t>
            </a:r>
            <a:r>
              <a:rPr lang="en-MY" dirty="0" err="1" smtClean="0"/>
              <a:t>beroperasi</a:t>
            </a:r>
            <a:r>
              <a:rPr lang="en-MY" dirty="0" smtClean="0"/>
              <a:t>.</a:t>
            </a:r>
            <a:endParaRPr lang="en-MY" dirty="0"/>
          </a:p>
        </p:txBody>
      </p:sp>
      <p:sp>
        <p:nvSpPr>
          <p:cNvPr id="5" name="Rectangle 4"/>
          <p:cNvSpPr/>
          <p:nvPr/>
        </p:nvSpPr>
        <p:spPr>
          <a:xfrm>
            <a:off x="5448898" y="1025861"/>
            <a:ext cx="1387737" cy="268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Link </a:t>
            </a:r>
            <a:r>
              <a:rPr lang="en-US" dirty="0" err="1" smtClean="0"/>
              <a:t>borang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1191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94576" y="397881"/>
            <a:ext cx="1172210" cy="2241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Hubungi</a:t>
            </a:r>
            <a:r>
              <a:rPr lang="en-US" sz="1100" dirty="0" smtClean="0"/>
              <a:t> Kami</a:t>
            </a:r>
            <a:endParaRPr lang="en-MY" sz="1100" dirty="0"/>
          </a:p>
        </p:txBody>
      </p:sp>
      <p:sp>
        <p:nvSpPr>
          <p:cNvPr id="5" name="TextBox 4"/>
          <p:cNvSpPr txBox="1"/>
          <p:nvPr/>
        </p:nvSpPr>
        <p:spPr>
          <a:xfrm>
            <a:off x="413658" y="1001486"/>
            <a:ext cx="82078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Para </a:t>
            </a:r>
            <a:r>
              <a:rPr lang="en-MY" dirty="0" smtClean="0"/>
              <a:t>Syarikat Bunker </a:t>
            </a:r>
            <a:r>
              <a:rPr lang="en-MY" dirty="0" err="1" smtClean="0"/>
              <a:t>boleh</a:t>
            </a:r>
            <a:r>
              <a:rPr lang="en-MY" dirty="0" smtClean="0"/>
              <a:t> </a:t>
            </a:r>
            <a:r>
              <a:rPr lang="en-MY" dirty="0" err="1"/>
              <a:t>menghubungi</a:t>
            </a:r>
            <a:r>
              <a:rPr lang="en-MY" dirty="0"/>
              <a:t> </a:t>
            </a:r>
            <a:r>
              <a:rPr lang="en-MY" dirty="0" err="1"/>
              <a:t>maklumat</a:t>
            </a:r>
            <a:r>
              <a:rPr lang="en-MY" dirty="0"/>
              <a:t> yang </a:t>
            </a:r>
            <a:r>
              <a:rPr lang="en-MY" dirty="0" err="1"/>
              <a:t>tertera</a:t>
            </a:r>
            <a:r>
              <a:rPr lang="en-MY" dirty="0"/>
              <a:t> </a:t>
            </a:r>
            <a:r>
              <a:rPr lang="en-MY" dirty="0" err="1"/>
              <a:t>jika</a:t>
            </a:r>
            <a:r>
              <a:rPr lang="en-MY" dirty="0"/>
              <a:t> </a:t>
            </a:r>
            <a:r>
              <a:rPr lang="en-MY" dirty="0" err="1"/>
              <a:t>terdapat</a:t>
            </a:r>
            <a:r>
              <a:rPr lang="en-MY" dirty="0"/>
              <a:t> </a:t>
            </a:r>
            <a:r>
              <a:rPr lang="en-MY" dirty="0" err="1"/>
              <a:t>sebarang</a:t>
            </a:r>
            <a:r>
              <a:rPr lang="en-MY" dirty="0"/>
              <a:t> </a:t>
            </a:r>
            <a:r>
              <a:rPr lang="en-MY" dirty="0" err="1"/>
              <a:t>keraguan</a:t>
            </a:r>
            <a:r>
              <a:rPr lang="en-MY" dirty="0"/>
              <a:t> </a:t>
            </a:r>
            <a:r>
              <a:rPr lang="en-MY" dirty="0" err="1"/>
              <a:t>atau</a:t>
            </a:r>
            <a:r>
              <a:rPr lang="en-MY" dirty="0"/>
              <a:t> </a:t>
            </a:r>
            <a:r>
              <a:rPr lang="en-MY" dirty="0" err="1"/>
              <a:t>persoalan</a:t>
            </a:r>
            <a:r>
              <a:rPr lang="en-MY" dirty="0"/>
              <a:t> yang </a:t>
            </a:r>
            <a:r>
              <a:rPr lang="en-MY" dirty="0" err="1"/>
              <a:t>mungkin</a:t>
            </a:r>
            <a:r>
              <a:rPr lang="en-MY" dirty="0"/>
              <a:t> </a:t>
            </a:r>
            <a:r>
              <a:rPr lang="en-MY" dirty="0" err="1"/>
              <a:t>timbul</a:t>
            </a:r>
            <a:r>
              <a:rPr lang="en-MY" dirty="0" smtClean="0"/>
              <a:t>.</a:t>
            </a:r>
          </a:p>
          <a:p>
            <a:endParaRPr lang="en-US" dirty="0"/>
          </a:p>
          <a:p>
            <a:r>
              <a:rPr lang="en-US" dirty="0" err="1" smtClean="0"/>
              <a:t>Jabatan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r>
              <a:rPr lang="en-US" dirty="0" smtClean="0"/>
              <a:t> </a:t>
            </a:r>
            <a:r>
              <a:rPr lang="en-US" dirty="0" err="1" smtClean="0"/>
              <a:t>Diraja</a:t>
            </a:r>
            <a:r>
              <a:rPr lang="en-US" dirty="0" smtClean="0"/>
              <a:t> Malaysia,</a:t>
            </a:r>
          </a:p>
          <a:p>
            <a:r>
              <a:rPr lang="en-US" dirty="0" err="1" smtClean="0"/>
              <a:t>Wisma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r>
              <a:rPr lang="en-US" dirty="0" smtClean="0"/>
              <a:t> Ayer </a:t>
            </a:r>
            <a:r>
              <a:rPr lang="en-US" dirty="0" err="1" smtClean="0"/>
              <a:t>keroh</a:t>
            </a:r>
            <a:r>
              <a:rPr lang="en-US" dirty="0" smtClean="0"/>
              <a:t>,</a:t>
            </a:r>
          </a:p>
          <a:p>
            <a:r>
              <a:rPr lang="en-US" dirty="0" smtClean="0"/>
              <a:t>75450 Melaka</a:t>
            </a:r>
          </a:p>
          <a:p>
            <a:r>
              <a:rPr lang="en-MY" dirty="0"/>
              <a:t>06-232 5855 (</a:t>
            </a:r>
            <a:r>
              <a:rPr lang="en-MY" dirty="0" err="1"/>
              <a:t>Talian</a:t>
            </a:r>
            <a:r>
              <a:rPr lang="en-MY" dirty="0"/>
              <a:t> </a:t>
            </a:r>
            <a:r>
              <a:rPr lang="en-MY" dirty="0" err="1"/>
              <a:t>Umum</a:t>
            </a:r>
            <a:r>
              <a:rPr lang="en-MY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 err="1" smtClean="0"/>
              <a:t>Meja</a:t>
            </a:r>
            <a:r>
              <a:rPr lang="en-US" dirty="0" smtClean="0"/>
              <a:t> </a:t>
            </a:r>
            <a:r>
              <a:rPr lang="en-US" dirty="0" err="1" smtClean="0"/>
              <a:t>bantuan</a:t>
            </a:r>
            <a:r>
              <a:rPr lang="en-US" dirty="0" smtClean="0"/>
              <a:t> :</a:t>
            </a:r>
          </a:p>
          <a:p>
            <a:endParaRPr lang="en-US" dirty="0"/>
          </a:p>
          <a:p>
            <a:pPr marL="400050" indent="-400050">
              <a:buAutoNum type="romanLcParenR"/>
            </a:pPr>
            <a:r>
              <a:rPr lang="en-US" dirty="0" err="1" smtClean="0"/>
              <a:t>Tn</a:t>
            </a:r>
            <a:r>
              <a:rPr lang="en-US" dirty="0" smtClean="0"/>
              <a:t> </a:t>
            </a:r>
            <a:r>
              <a:rPr lang="en-US" dirty="0" err="1" smtClean="0"/>
              <a:t>Razidi</a:t>
            </a:r>
            <a:r>
              <a:rPr lang="en-US" dirty="0" smtClean="0"/>
              <a:t> Bin Abu</a:t>
            </a:r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Penolong</a:t>
            </a:r>
            <a:r>
              <a:rPr lang="en-US" dirty="0" smtClean="0"/>
              <a:t> </a:t>
            </a:r>
            <a:r>
              <a:rPr lang="en-US" dirty="0" err="1" smtClean="0"/>
              <a:t>Pengarah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emel</a:t>
            </a:r>
            <a:r>
              <a:rPr lang="en-US" dirty="0" smtClean="0"/>
              <a:t> : </a:t>
            </a:r>
            <a:r>
              <a:rPr lang="en-US" dirty="0" smtClean="0">
                <a:hlinkClick r:id="rId2"/>
              </a:rPr>
              <a:t>razidi.abu@customs.gov.my</a:t>
            </a:r>
            <a:endParaRPr lang="en-US" dirty="0" smtClean="0"/>
          </a:p>
          <a:p>
            <a:endParaRPr lang="en-US" dirty="0"/>
          </a:p>
          <a:p>
            <a:pPr marL="400050" indent="-400050">
              <a:buAutoNum type="romanLcParenR" startAt="2"/>
            </a:pPr>
            <a:r>
              <a:rPr lang="en-US" dirty="0" smtClean="0"/>
              <a:t>En </a:t>
            </a:r>
            <a:r>
              <a:rPr lang="en-US" dirty="0" err="1" smtClean="0"/>
              <a:t>Hairulazuan</a:t>
            </a:r>
            <a:r>
              <a:rPr lang="en-US" dirty="0" smtClean="0"/>
              <a:t> Bin </a:t>
            </a:r>
            <a:r>
              <a:rPr lang="en-US" dirty="0" err="1" smtClean="0"/>
              <a:t>Hairullah</a:t>
            </a:r>
            <a:endParaRPr lang="en-US" dirty="0" smtClean="0"/>
          </a:p>
          <a:p>
            <a:r>
              <a:rPr lang="en-US" dirty="0" smtClean="0"/>
              <a:t>        </a:t>
            </a:r>
            <a:r>
              <a:rPr lang="en-US" dirty="0" err="1" smtClean="0"/>
              <a:t>Pegawai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</a:t>
            </a:r>
            <a:r>
              <a:rPr lang="en-US" dirty="0" err="1" smtClean="0"/>
              <a:t>Emel</a:t>
            </a:r>
            <a:r>
              <a:rPr lang="en-US" dirty="0" smtClean="0"/>
              <a:t> : hairulazuan.hairullah@customs.gov.my</a:t>
            </a:r>
          </a:p>
          <a:p>
            <a:pPr marL="400050" indent="-400050">
              <a:buAutoNum type="romanLcParenR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6723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25570" y="2012582"/>
            <a:ext cx="659536" cy="50407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5508"/>
          <a:stretch/>
        </p:blipFill>
        <p:spPr>
          <a:xfrm>
            <a:off x="532229" y="1122363"/>
            <a:ext cx="8079541" cy="42923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406089" y="4803353"/>
            <a:ext cx="2282016" cy="297457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ight Arrow 4"/>
          <p:cNvSpPr/>
          <p:nvPr/>
        </p:nvSpPr>
        <p:spPr>
          <a:xfrm rot="10539700">
            <a:off x="5596569" y="4803353"/>
            <a:ext cx="1112703" cy="20932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3400742" y="4790322"/>
            <a:ext cx="1979017" cy="506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Syarikat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JKDM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ADMIN</a:t>
            </a:r>
            <a:endParaRPr lang="en-MY" sz="1200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611" y="1841110"/>
            <a:ext cx="1472494" cy="7239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1815" t="85309" b="5664"/>
          <a:stretch/>
        </p:blipFill>
        <p:spPr>
          <a:xfrm>
            <a:off x="546011" y="5829984"/>
            <a:ext cx="8002171" cy="53539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200759" y="2672414"/>
            <a:ext cx="2742480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sz="1600" b="1" dirty="0" err="1" smtClean="0">
                <a:solidFill>
                  <a:schemeClr val="tx1"/>
                </a:solidFill>
              </a:rPr>
              <a:t>MyPetroleum</a:t>
            </a:r>
            <a:r>
              <a:rPr lang="en-US" sz="1600" b="1" dirty="0" smtClean="0">
                <a:solidFill>
                  <a:schemeClr val="tx1"/>
                </a:solidFill>
              </a:rPr>
              <a:t> JKDM </a:t>
            </a:r>
          </a:p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06089" y="5264537"/>
            <a:ext cx="2240731" cy="1568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Log </a:t>
            </a:r>
            <a:r>
              <a:rPr lang="en-US" sz="1100" dirty="0" err="1" smtClean="0">
                <a:solidFill>
                  <a:schemeClr val="tx1"/>
                </a:solidFill>
              </a:rPr>
              <a:t>Masuk</a:t>
            </a:r>
            <a:endParaRPr lang="en-MY" sz="11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52996" y="5403881"/>
            <a:ext cx="2548993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Jabatan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Kastam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Diraja</a:t>
            </a:r>
            <a:r>
              <a:rPr lang="en-US" sz="1200" dirty="0" smtClean="0">
                <a:solidFill>
                  <a:schemeClr val="tx1"/>
                </a:solidFill>
              </a:rPr>
              <a:t> Malaysia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517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15" t="5549" b="5665"/>
          <a:stretch/>
        </p:blipFill>
        <p:spPr>
          <a:xfrm>
            <a:off x="121180" y="414867"/>
            <a:ext cx="8802688" cy="52662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76787" y="1253765"/>
            <a:ext cx="2604777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032410" y="1884646"/>
            <a:ext cx="6787613" cy="2430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Selamat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Datang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r>
              <a:rPr lang="en-US" sz="1200" dirty="0" smtClean="0">
                <a:solidFill>
                  <a:schemeClr val="tx1"/>
                </a:solidFill>
              </a:rPr>
              <a:t>- </a:t>
            </a:r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Petroleum.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Sistem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MyPetroleum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dibangunkan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sebagai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satu</a:t>
            </a:r>
            <a:r>
              <a:rPr lang="en-MY" sz="1200" dirty="0">
                <a:solidFill>
                  <a:schemeClr val="tx1"/>
                </a:solidFill>
              </a:rPr>
              <a:t> platform </a:t>
            </a:r>
            <a:r>
              <a:rPr lang="en-MY" sz="1200" dirty="0" err="1">
                <a:solidFill>
                  <a:schemeClr val="tx1"/>
                </a:solidFill>
              </a:rPr>
              <a:t>untuk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memohon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pengecualian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bagi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bagi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minyak</a:t>
            </a:r>
            <a:r>
              <a:rPr lang="en-MY" sz="1200" dirty="0">
                <a:solidFill>
                  <a:schemeClr val="tx1"/>
                </a:solidFill>
              </a:rPr>
              <a:t> bunker </a:t>
            </a:r>
            <a:r>
              <a:rPr lang="en-MY" sz="1200" dirty="0" err="1">
                <a:solidFill>
                  <a:schemeClr val="tx1"/>
                </a:solidFill>
              </a:rPr>
              <a:t>ke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atas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kapal-kapal</a:t>
            </a:r>
            <a:r>
              <a:rPr lang="en-MY" sz="1200" dirty="0">
                <a:solidFill>
                  <a:schemeClr val="tx1"/>
                </a:solidFill>
              </a:rPr>
              <a:t> yang </a:t>
            </a:r>
            <a:r>
              <a:rPr lang="en-MY" sz="1200" dirty="0" err="1">
                <a:solidFill>
                  <a:schemeClr val="tx1"/>
                </a:solidFill>
              </a:rPr>
              <a:t>layak</a:t>
            </a:r>
            <a:r>
              <a:rPr lang="en-MY" sz="1200" dirty="0">
                <a:solidFill>
                  <a:schemeClr val="tx1"/>
                </a:solidFill>
              </a:rPr>
              <a:t>. Bunkering </a:t>
            </a:r>
            <a:r>
              <a:rPr lang="en-MY" sz="1200" dirty="0" err="1">
                <a:solidFill>
                  <a:schemeClr val="tx1"/>
                </a:solidFill>
              </a:rPr>
              <a:t>adalah</a:t>
            </a:r>
            <a:r>
              <a:rPr lang="en-MY" sz="1200" dirty="0">
                <a:solidFill>
                  <a:schemeClr val="tx1"/>
                </a:solidFill>
              </a:rPr>
              <a:t> proses </a:t>
            </a:r>
            <a:r>
              <a:rPr lang="en-MY" sz="1200" dirty="0" err="1">
                <a:solidFill>
                  <a:schemeClr val="tx1"/>
                </a:solidFill>
              </a:rPr>
              <a:t>menyalurkan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bahan</a:t>
            </a:r>
            <a:r>
              <a:rPr lang="en-MY" sz="1200" dirty="0">
                <a:solidFill>
                  <a:schemeClr val="tx1"/>
                </a:solidFill>
              </a:rPr>
              <a:t> petroleum </a:t>
            </a:r>
            <a:r>
              <a:rPr lang="en-MY" sz="1200" dirty="0" err="1">
                <a:solidFill>
                  <a:schemeClr val="tx1"/>
                </a:solidFill>
              </a:rPr>
              <a:t>untuk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menggerakkan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enjin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</a:t>
            </a:r>
            <a:r>
              <a:rPr lang="en-MY" sz="1200" dirty="0" smtClean="0">
                <a:solidFill>
                  <a:schemeClr val="tx1"/>
                </a:solidFill>
              </a:rPr>
              <a:t>.</a:t>
            </a:r>
          </a:p>
          <a:p>
            <a:endParaRPr lang="en-MY" sz="1200" dirty="0">
              <a:solidFill>
                <a:schemeClr val="tx1"/>
              </a:solidFill>
            </a:endParaRPr>
          </a:p>
          <a:p>
            <a:r>
              <a:rPr lang="en-MY" sz="1200" dirty="0">
                <a:solidFill>
                  <a:schemeClr val="tx1"/>
                </a:solidFill>
              </a:rPr>
              <a:t>Di </a:t>
            </a:r>
            <a:r>
              <a:rPr lang="en-MY" sz="1200" dirty="0" err="1">
                <a:solidFill>
                  <a:schemeClr val="tx1"/>
                </a:solidFill>
              </a:rPr>
              <a:t>bawah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Seksyen</a:t>
            </a:r>
            <a:r>
              <a:rPr lang="en-MY" sz="1200" dirty="0">
                <a:solidFill>
                  <a:schemeClr val="tx1"/>
                </a:solidFill>
              </a:rPr>
              <a:t> 35(1) </a:t>
            </a:r>
            <a:r>
              <a:rPr lang="en-MY" sz="1200" dirty="0" err="1">
                <a:solidFill>
                  <a:schemeClr val="tx1"/>
                </a:solidFill>
              </a:rPr>
              <a:t>Akta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2018, </a:t>
            </a:r>
            <a:r>
              <a:rPr lang="en-MY" sz="1200" dirty="0" err="1">
                <a:solidFill>
                  <a:schemeClr val="tx1"/>
                </a:solidFill>
              </a:rPr>
              <a:t>aktiviti</a:t>
            </a:r>
            <a:r>
              <a:rPr lang="en-MY" sz="1200" dirty="0">
                <a:solidFill>
                  <a:schemeClr val="tx1"/>
                </a:solidFill>
              </a:rPr>
              <a:t> bunkering </a:t>
            </a:r>
            <a:r>
              <a:rPr lang="en-MY" sz="1200" dirty="0" err="1">
                <a:solidFill>
                  <a:schemeClr val="tx1"/>
                </a:solidFill>
              </a:rPr>
              <a:t>telah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diberikan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pengecualian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ke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atas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kapal-kapal</a:t>
            </a:r>
            <a:r>
              <a:rPr lang="en-MY" sz="1200" dirty="0">
                <a:solidFill>
                  <a:schemeClr val="tx1"/>
                </a:solidFill>
              </a:rPr>
              <a:t> yang </a:t>
            </a:r>
            <a:r>
              <a:rPr lang="en-MY" sz="1200" dirty="0" err="1">
                <a:solidFill>
                  <a:schemeClr val="tx1"/>
                </a:solidFill>
              </a:rPr>
              <a:t>layak</a:t>
            </a:r>
            <a:r>
              <a:rPr lang="en-MY" sz="1200" dirty="0">
                <a:solidFill>
                  <a:schemeClr val="tx1"/>
                </a:solidFill>
              </a:rPr>
              <a:t> di </a:t>
            </a:r>
            <a:r>
              <a:rPr lang="en-MY" sz="1200" dirty="0" err="1">
                <a:solidFill>
                  <a:schemeClr val="tx1"/>
                </a:solidFill>
              </a:rPr>
              <a:t>bawah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Butiran</a:t>
            </a:r>
            <a:r>
              <a:rPr lang="en-MY" sz="1200" dirty="0">
                <a:solidFill>
                  <a:schemeClr val="tx1"/>
                </a:solidFill>
              </a:rPr>
              <a:t> 58 </a:t>
            </a:r>
            <a:r>
              <a:rPr lang="en-MY" sz="1200" dirty="0" err="1">
                <a:solidFill>
                  <a:schemeClr val="tx1"/>
                </a:solidFill>
              </a:rPr>
              <a:t>dan</a:t>
            </a:r>
            <a:r>
              <a:rPr lang="en-MY" sz="1200" dirty="0">
                <a:solidFill>
                  <a:schemeClr val="tx1"/>
                </a:solidFill>
              </a:rPr>
              <a:t> 58 A , </a:t>
            </a:r>
            <a:r>
              <a:rPr lang="en-MY" sz="1200" dirty="0" err="1">
                <a:solidFill>
                  <a:schemeClr val="tx1"/>
                </a:solidFill>
              </a:rPr>
              <a:t>Perintah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(Orang Yang </a:t>
            </a:r>
            <a:r>
              <a:rPr lang="en-MY" sz="1200" dirty="0" err="1">
                <a:solidFill>
                  <a:schemeClr val="tx1"/>
                </a:solidFill>
              </a:rPr>
              <a:t>Dikecualikan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Daripada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Pembayaran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) 2018.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73" y="1161279"/>
            <a:ext cx="1220282" cy="6071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50373" y="3723264"/>
            <a:ext cx="2065658" cy="435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KPDN </a:t>
            </a:r>
            <a:endParaRPr lang="en-MY" dirty="0"/>
          </a:p>
        </p:txBody>
      </p:sp>
      <p:sp>
        <p:nvSpPr>
          <p:cNvPr id="10" name="Rectangle 9"/>
          <p:cNvSpPr/>
          <p:nvPr/>
        </p:nvSpPr>
        <p:spPr>
          <a:xfrm>
            <a:off x="2524124" y="4474576"/>
            <a:ext cx="1751479" cy="2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58A </a:t>
            </a:r>
            <a:endParaRPr lang="en-MY" sz="1200" dirty="0"/>
          </a:p>
        </p:txBody>
      </p:sp>
      <p:sp>
        <p:nvSpPr>
          <p:cNvPr id="12" name="Rectangle 11"/>
          <p:cNvSpPr/>
          <p:nvPr/>
        </p:nvSpPr>
        <p:spPr>
          <a:xfrm>
            <a:off x="997774" y="827116"/>
            <a:ext cx="1087907" cy="208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13" name="Rectangle 12"/>
          <p:cNvSpPr/>
          <p:nvPr/>
        </p:nvSpPr>
        <p:spPr>
          <a:xfrm>
            <a:off x="2140263" y="836930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 </a:t>
            </a:r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14" name="Rectangle 13"/>
          <p:cNvSpPr/>
          <p:nvPr/>
        </p:nvSpPr>
        <p:spPr>
          <a:xfrm>
            <a:off x="3745424" y="857626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5" name="Rectangle 14"/>
          <p:cNvSpPr/>
          <p:nvPr/>
        </p:nvSpPr>
        <p:spPr>
          <a:xfrm>
            <a:off x="-84446" y="744019"/>
            <a:ext cx="1054131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 Syarikat</a:t>
            </a:r>
            <a:endParaRPr lang="en-MY" sz="1100" dirty="0"/>
          </a:p>
        </p:txBody>
      </p:sp>
      <p:sp>
        <p:nvSpPr>
          <p:cNvPr id="16" name="Rectangle 15"/>
          <p:cNvSpPr/>
          <p:nvPr/>
        </p:nvSpPr>
        <p:spPr>
          <a:xfrm>
            <a:off x="5448559" y="836426"/>
            <a:ext cx="2009516" cy="209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1032411" y="77118"/>
            <a:ext cx="168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Skrin</a:t>
            </a:r>
            <a:r>
              <a:rPr lang="en-US" dirty="0" smtClean="0"/>
              <a:t> </a:t>
            </a:r>
            <a:r>
              <a:rPr lang="en-US" dirty="0" err="1" smtClean="0"/>
              <a:t>syarikat</a:t>
            </a:r>
            <a:endParaRPr lang="en-MY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691983" y="991806"/>
            <a:ext cx="547453" cy="528849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159829" y="4474576"/>
            <a:ext cx="2013857" cy="2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0029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1773" y="697456"/>
            <a:ext cx="3715927" cy="254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Pengecualian</a:t>
            </a:r>
            <a:r>
              <a:rPr lang="en-US" sz="1100" dirty="0" smtClean="0"/>
              <a:t> </a:t>
            </a:r>
            <a:r>
              <a:rPr lang="en-US" sz="1100" dirty="0" err="1" smtClean="0"/>
              <a:t>Cukai</a:t>
            </a:r>
            <a:r>
              <a:rPr lang="en-US" sz="1100" dirty="0" smtClean="0"/>
              <a:t> </a:t>
            </a:r>
            <a:r>
              <a:rPr lang="en-US" sz="1100" dirty="0" err="1" smtClean="0"/>
              <a:t>Jualan</a:t>
            </a:r>
            <a:r>
              <a:rPr lang="en-US" sz="1100" dirty="0" smtClean="0"/>
              <a:t> di </a:t>
            </a:r>
            <a:r>
              <a:rPr lang="en-US" sz="1100" dirty="0" err="1" smtClean="0"/>
              <a:t>bawah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674016" y="1263192"/>
            <a:ext cx="992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8" name="Rectangle 7"/>
          <p:cNvSpPr/>
          <p:nvPr/>
        </p:nvSpPr>
        <p:spPr>
          <a:xfrm>
            <a:off x="2314575" y="1299891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/>
          <p:cNvSpPr txBox="1"/>
          <p:nvPr/>
        </p:nvSpPr>
        <p:spPr>
          <a:xfrm>
            <a:off x="674016" y="1699351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No,Telefon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0" name="Rectangle 9"/>
          <p:cNvSpPr/>
          <p:nvPr/>
        </p:nvSpPr>
        <p:spPr>
          <a:xfrm>
            <a:off x="2314575" y="174089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2314575" y="2181907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674016" y="2108091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Alamat</a:t>
            </a:r>
            <a:r>
              <a:rPr lang="en-US" sz="1200" dirty="0" smtClean="0"/>
              <a:t> </a:t>
            </a:r>
            <a:r>
              <a:rPr lang="en-US" sz="1200" dirty="0" err="1"/>
              <a:t>E</a:t>
            </a:r>
            <a:r>
              <a:rPr lang="en-US" sz="1200" dirty="0" err="1" smtClean="0"/>
              <a:t>mel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74015" y="2640162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No.Kad</a:t>
            </a:r>
            <a:r>
              <a:rPr lang="en-US" sz="1200" dirty="0" smtClean="0"/>
              <a:t> </a:t>
            </a:r>
            <a:r>
              <a:rPr lang="en-US" sz="1200" dirty="0" err="1" smtClean="0"/>
              <a:t>Pengenalan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4" name="Rectangle 13"/>
          <p:cNvSpPr/>
          <p:nvPr/>
        </p:nvSpPr>
        <p:spPr>
          <a:xfrm>
            <a:off x="2314575" y="2681594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674014" y="3098647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Jawatan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6" name="Rectangle 15"/>
          <p:cNvSpPr/>
          <p:nvPr/>
        </p:nvSpPr>
        <p:spPr>
          <a:xfrm>
            <a:off x="2314575" y="311734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TextBox 16"/>
          <p:cNvSpPr txBox="1"/>
          <p:nvPr/>
        </p:nvSpPr>
        <p:spPr>
          <a:xfrm>
            <a:off x="674013" y="3539655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Syarikat:</a:t>
            </a:r>
            <a:endParaRPr lang="en-MY" sz="1200" dirty="0"/>
          </a:p>
        </p:txBody>
      </p:sp>
      <p:sp>
        <p:nvSpPr>
          <p:cNvPr id="18" name="Rectangle 17"/>
          <p:cNvSpPr/>
          <p:nvPr/>
        </p:nvSpPr>
        <p:spPr>
          <a:xfrm>
            <a:off x="2314572" y="3584421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/>
          <p:cNvSpPr txBox="1"/>
          <p:nvPr/>
        </p:nvSpPr>
        <p:spPr>
          <a:xfrm>
            <a:off x="674013" y="3943546"/>
            <a:ext cx="2154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No.Pendaftaran</a:t>
            </a:r>
            <a:r>
              <a:rPr lang="en-US" sz="1200" dirty="0" smtClean="0"/>
              <a:t> </a:t>
            </a:r>
            <a:r>
              <a:rPr lang="en-US" sz="1200" dirty="0" err="1" smtClean="0"/>
              <a:t>Cukai</a:t>
            </a:r>
            <a:r>
              <a:rPr lang="en-US" sz="1200" dirty="0" smtClean="0"/>
              <a:t> </a:t>
            </a:r>
            <a:r>
              <a:rPr lang="en-US" sz="1200" dirty="0" err="1" smtClean="0"/>
              <a:t>Jualan</a:t>
            </a:r>
            <a:r>
              <a:rPr lang="en-US" sz="1200" dirty="0" smtClean="0"/>
              <a:t>(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berkenaan</a:t>
            </a:r>
            <a:r>
              <a:rPr lang="en-US" sz="1200" dirty="0" smtClean="0"/>
              <a:t>):</a:t>
            </a:r>
            <a:endParaRPr lang="en-MY" sz="1200" dirty="0"/>
          </a:p>
        </p:txBody>
      </p:sp>
      <p:sp>
        <p:nvSpPr>
          <p:cNvPr id="20" name="Rectangle 19"/>
          <p:cNvSpPr/>
          <p:nvPr/>
        </p:nvSpPr>
        <p:spPr>
          <a:xfrm>
            <a:off x="2400297" y="401684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/>
          <p:cNvSpPr txBox="1"/>
          <p:nvPr/>
        </p:nvSpPr>
        <p:spPr>
          <a:xfrm>
            <a:off x="674013" y="4532103"/>
            <a:ext cx="1945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r>
              <a:rPr lang="en-US" sz="1200" dirty="0" err="1" smtClean="0"/>
              <a:t>permohonan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2" name="Rectangle 21"/>
          <p:cNvSpPr/>
          <p:nvPr/>
        </p:nvSpPr>
        <p:spPr>
          <a:xfrm>
            <a:off x="2314571" y="454643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/>
          <p:cNvSpPr txBox="1"/>
          <p:nvPr/>
        </p:nvSpPr>
        <p:spPr>
          <a:xfrm>
            <a:off x="664483" y="4986935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No.Kelulusan</a:t>
            </a:r>
            <a:r>
              <a:rPr lang="en-US" sz="1200" dirty="0" smtClean="0"/>
              <a:t>(PDA2,JKDM </a:t>
            </a:r>
            <a:r>
              <a:rPr lang="en-US" sz="1200" dirty="0" err="1" smtClean="0"/>
              <a:t>dll</a:t>
            </a:r>
            <a:r>
              <a:rPr lang="en-US" sz="1200" dirty="0" smtClean="0"/>
              <a:t>):</a:t>
            </a:r>
            <a:endParaRPr lang="en-MY" sz="1200" dirty="0"/>
          </a:p>
        </p:txBody>
      </p:sp>
      <p:sp>
        <p:nvSpPr>
          <p:cNvPr id="24" name="Rectangle 23"/>
          <p:cNvSpPr/>
          <p:nvPr/>
        </p:nvSpPr>
        <p:spPr>
          <a:xfrm>
            <a:off x="2890833" y="5013548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/>
          <p:cNvSpPr txBox="1"/>
          <p:nvPr/>
        </p:nvSpPr>
        <p:spPr>
          <a:xfrm>
            <a:off x="664482" y="5369703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No.Pesanan</a:t>
            </a:r>
            <a:r>
              <a:rPr lang="en-US" sz="1200" dirty="0" smtClean="0"/>
              <a:t> </a:t>
            </a:r>
            <a:r>
              <a:rPr lang="en-US" sz="1200" dirty="0" err="1" smtClean="0"/>
              <a:t>Belian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6" name="Rectangle 25"/>
          <p:cNvSpPr/>
          <p:nvPr/>
        </p:nvSpPr>
        <p:spPr>
          <a:xfrm>
            <a:off x="2314570" y="5412843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TextBox 26"/>
          <p:cNvSpPr txBox="1"/>
          <p:nvPr/>
        </p:nvSpPr>
        <p:spPr>
          <a:xfrm>
            <a:off x="664481" y="5635242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Alamat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49511" t="62611" r="7948" b="31661"/>
          <a:stretch/>
        </p:blipFill>
        <p:spPr>
          <a:xfrm>
            <a:off x="2221737" y="4522964"/>
            <a:ext cx="3900416" cy="2952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646694" y="5703708"/>
            <a:ext cx="3506331" cy="396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ounded Rectangle 1"/>
          <p:cNvSpPr/>
          <p:nvPr/>
        </p:nvSpPr>
        <p:spPr>
          <a:xfrm>
            <a:off x="741773" y="1019175"/>
            <a:ext cx="3782602" cy="2440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A: MAKLUMAT PEMOHON</a:t>
            </a:r>
            <a:endParaRPr lang="en-MY" sz="14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2"/>
          <a:srcRect l="49511" t="68894" r="7948" b="20943"/>
          <a:stretch/>
        </p:blipFill>
        <p:spPr>
          <a:xfrm>
            <a:off x="664481" y="6168249"/>
            <a:ext cx="3955144" cy="56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52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4016" y="439927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Pemohon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8" name="Rectangle 7"/>
          <p:cNvSpPr/>
          <p:nvPr/>
        </p:nvSpPr>
        <p:spPr>
          <a:xfrm>
            <a:off x="2230058" y="493006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/>
          <p:cNvSpPr txBox="1"/>
          <p:nvPr/>
        </p:nvSpPr>
        <p:spPr>
          <a:xfrm>
            <a:off x="625180" y="714822"/>
            <a:ext cx="155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No,KP</a:t>
            </a:r>
            <a:r>
              <a:rPr lang="en-US" sz="1200" dirty="0" smtClean="0"/>
              <a:t> </a:t>
            </a:r>
            <a:r>
              <a:rPr lang="en-US" sz="1200" dirty="0" err="1" smtClean="0"/>
              <a:t>Pemohon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0" name="Rectangle 9"/>
          <p:cNvSpPr/>
          <p:nvPr/>
        </p:nvSpPr>
        <p:spPr>
          <a:xfrm>
            <a:off x="2230057" y="806587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2230056" y="1077698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709838" y="962771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Jawatan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64481" y="1715754"/>
            <a:ext cx="1726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Firma/</a:t>
            </a:r>
            <a:r>
              <a:rPr lang="en-US" sz="1200" dirty="0" err="1" smtClean="0"/>
              <a:t>syarikat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4" name="Rectangle 13"/>
          <p:cNvSpPr/>
          <p:nvPr/>
        </p:nvSpPr>
        <p:spPr>
          <a:xfrm>
            <a:off x="2353547" y="177474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719370" y="2001594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Alamat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6" name="Rectangle 15"/>
          <p:cNvSpPr/>
          <p:nvPr/>
        </p:nvSpPr>
        <p:spPr>
          <a:xfrm>
            <a:off x="2353546" y="1998811"/>
            <a:ext cx="5295029" cy="273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/>
          <p:cNvSpPr/>
          <p:nvPr/>
        </p:nvSpPr>
        <p:spPr>
          <a:xfrm>
            <a:off x="2084301" y="2774155"/>
            <a:ext cx="2562225" cy="19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/>
          <p:cNvSpPr txBox="1"/>
          <p:nvPr/>
        </p:nvSpPr>
        <p:spPr>
          <a:xfrm>
            <a:off x="912696" y="3242033"/>
            <a:ext cx="929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Unit</a:t>
            </a:r>
            <a:endParaRPr lang="en-MY" sz="1200" dirty="0"/>
          </a:p>
        </p:txBody>
      </p:sp>
      <p:sp>
        <p:nvSpPr>
          <p:cNvPr id="20" name="Rectangle 19"/>
          <p:cNvSpPr/>
          <p:nvPr/>
        </p:nvSpPr>
        <p:spPr>
          <a:xfrm>
            <a:off x="2095499" y="305539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Rectangle 21"/>
          <p:cNvSpPr/>
          <p:nvPr/>
        </p:nvSpPr>
        <p:spPr>
          <a:xfrm>
            <a:off x="2084299" y="3657937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/>
          <p:cNvSpPr txBox="1"/>
          <p:nvPr/>
        </p:nvSpPr>
        <p:spPr>
          <a:xfrm>
            <a:off x="793069" y="4157484"/>
            <a:ext cx="116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Nilai</a:t>
            </a:r>
            <a:r>
              <a:rPr lang="en-US" sz="1200" dirty="0" smtClean="0"/>
              <a:t> (RM):</a:t>
            </a:r>
            <a:endParaRPr lang="en-MY" sz="1200" dirty="0"/>
          </a:p>
        </p:txBody>
      </p:sp>
      <p:sp>
        <p:nvSpPr>
          <p:cNvPr id="24" name="Rectangle 23"/>
          <p:cNvSpPr/>
          <p:nvPr/>
        </p:nvSpPr>
        <p:spPr>
          <a:xfrm>
            <a:off x="2077589" y="431087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/>
          <p:cNvSpPr txBox="1"/>
          <p:nvPr/>
        </p:nvSpPr>
        <p:spPr>
          <a:xfrm>
            <a:off x="744194" y="4501776"/>
            <a:ext cx="12668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Kawasan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6" name="Rectangle 25"/>
          <p:cNvSpPr/>
          <p:nvPr/>
        </p:nvSpPr>
        <p:spPr>
          <a:xfrm>
            <a:off x="2084298" y="4596094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TextBox 26"/>
          <p:cNvSpPr txBox="1"/>
          <p:nvPr/>
        </p:nvSpPr>
        <p:spPr>
          <a:xfrm>
            <a:off x="633001" y="5494637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Saya</a:t>
            </a:r>
            <a:r>
              <a:rPr lang="en-US" sz="1200" dirty="0" smtClean="0"/>
              <a:t> </a:t>
            </a:r>
            <a:endParaRPr lang="en-MY" sz="1200" dirty="0"/>
          </a:p>
        </p:txBody>
      </p:sp>
      <p:sp>
        <p:nvSpPr>
          <p:cNvPr id="2" name="Rounded Rectangle 1"/>
          <p:cNvSpPr/>
          <p:nvPr/>
        </p:nvSpPr>
        <p:spPr>
          <a:xfrm>
            <a:off x="674013" y="107334"/>
            <a:ext cx="8082551" cy="3059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B :MAKLUMAT ORANG YANG AKAN MENANDATANGANI SIJIL PENGECUALIAN</a:t>
            </a:r>
            <a:endParaRPr lang="en-MY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664481" y="1288897"/>
            <a:ext cx="3929652" cy="3932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C : MAKLUMAT PEMBEKAL </a:t>
            </a:r>
            <a:endParaRPr lang="en-MY" sz="1400" dirty="0"/>
          </a:p>
        </p:txBody>
      </p:sp>
      <p:sp>
        <p:nvSpPr>
          <p:cNvPr id="31" name="Rounded Rectangle 30"/>
          <p:cNvSpPr/>
          <p:nvPr/>
        </p:nvSpPr>
        <p:spPr>
          <a:xfrm>
            <a:off x="674739" y="2343627"/>
            <a:ext cx="3929652" cy="3126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D : PERIHAL BARANG-BARANG</a:t>
            </a:r>
            <a:endParaRPr lang="en-MY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1694" y="2704612"/>
            <a:ext cx="1257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No </a:t>
            </a:r>
            <a:r>
              <a:rPr lang="en-US" sz="1200" dirty="0" err="1" smtClean="0"/>
              <a:t>Kod</a:t>
            </a:r>
            <a:r>
              <a:rPr lang="en-US" sz="1200" dirty="0" smtClean="0"/>
              <a:t> </a:t>
            </a:r>
            <a:r>
              <a:rPr lang="en-US" sz="1200" dirty="0" err="1" smtClean="0"/>
              <a:t>Tarif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725296" y="3000036"/>
            <a:ext cx="1428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Perihal</a:t>
            </a:r>
            <a:r>
              <a:rPr lang="en-US" sz="1200" dirty="0" smtClean="0"/>
              <a:t> </a:t>
            </a:r>
            <a:r>
              <a:rPr lang="en-US" sz="1200" dirty="0" err="1" smtClean="0"/>
              <a:t>Barangan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34" name="Rectangle 33"/>
          <p:cNvSpPr/>
          <p:nvPr/>
        </p:nvSpPr>
        <p:spPr>
          <a:xfrm>
            <a:off x="2084300" y="3310965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5" name="TextBox 34"/>
          <p:cNvSpPr txBox="1"/>
          <p:nvPr/>
        </p:nvSpPr>
        <p:spPr>
          <a:xfrm>
            <a:off x="793069" y="3507961"/>
            <a:ext cx="929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Deskripsi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835393" y="3868291"/>
            <a:ext cx="929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Kuantiti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37" name="Rectangle 36"/>
          <p:cNvSpPr/>
          <p:nvPr/>
        </p:nvSpPr>
        <p:spPr>
          <a:xfrm>
            <a:off x="2084299" y="398125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8" name="Rectangle 37"/>
          <p:cNvSpPr/>
          <p:nvPr/>
        </p:nvSpPr>
        <p:spPr>
          <a:xfrm>
            <a:off x="1118721" y="5541103"/>
            <a:ext cx="3587042" cy="2074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9" name="TextBox 38"/>
          <p:cNvSpPr txBox="1"/>
          <p:nvPr/>
        </p:nvSpPr>
        <p:spPr>
          <a:xfrm>
            <a:off x="4715288" y="5494636"/>
            <a:ext cx="38564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</a:t>
            </a:r>
            <a:r>
              <a:rPr lang="en-US" sz="1200" dirty="0" err="1" smtClean="0"/>
              <a:t>emohon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membeli</a:t>
            </a:r>
            <a:r>
              <a:rPr lang="en-US" sz="1200" dirty="0" smtClean="0"/>
              <a:t> </a:t>
            </a:r>
            <a:r>
              <a:rPr lang="en-US" sz="1200" dirty="0" err="1" smtClean="0"/>
              <a:t>barang-barang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 </a:t>
            </a:r>
            <a:endParaRPr lang="en-MY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25180" y="5811769"/>
            <a:ext cx="7317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Pengecualian</a:t>
            </a:r>
            <a:r>
              <a:rPr lang="en-US" sz="1200" dirty="0" smtClean="0"/>
              <a:t> </a:t>
            </a:r>
            <a:r>
              <a:rPr lang="en-US" sz="1200" dirty="0" err="1" smtClean="0"/>
              <a:t>dituntut</a:t>
            </a:r>
            <a:r>
              <a:rPr lang="en-US" sz="1200" dirty="0" smtClean="0"/>
              <a:t>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58A </a:t>
            </a:r>
            <a:r>
              <a:rPr lang="en-US" sz="1200" dirty="0" err="1" smtClean="0"/>
              <a:t>Jadual</a:t>
            </a:r>
            <a:r>
              <a:rPr lang="en-US" sz="1200" dirty="0" smtClean="0"/>
              <a:t> </a:t>
            </a:r>
            <a:r>
              <a:rPr lang="en-US" sz="1200" dirty="0" err="1" smtClean="0"/>
              <a:t>A,Perintah</a:t>
            </a:r>
            <a:r>
              <a:rPr lang="en-US" sz="1200" dirty="0" smtClean="0"/>
              <a:t> </a:t>
            </a:r>
            <a:r>
              <a:rPr lang="en-US" sz="1200" dirty="0" err="1" smtClean="0"/>
              <a:t>Cukai</a:t>
            </a:r>
            <a:r>
              <a:rPr lang="en-US" sz="1200" dirty="0" smtClean="0"/>
              <a:t> </a:t>
            </a:r>
            <a:r>
              <a:rPr lang="en-US" sz="1200" dirty="0" err="1" smtClean="0"/>
              <a:t>Jualan</a:t>
            </a:r>
            <a:r>
              <a:rPr lang="en-US" sz="1200" dirty="0" smtClean="0"/>
              <a:t> (Orang Yang </a:t>
            </a:r>
            <a:r>
              <a:rPr lang="en-US" sz="1200" dirty="0" err="1" smtClean="0"/>
              <a:t>Dikecualikan</a:t>
            </a:r>
            <a:r>
              <a:rPr lang="en-US" sz="1200" dirty="0" smtClean="0"/>
              <a:t> </a:t>
            </a:r>
            <a:r>
              <a:rPr lang="en-US" sz="1200" dirty="0" err="1" smtClean="0"/>
              <a:t>Daripada</a:t>
            </a:r>
            <a:r>
              <a:rPr lang="en-US" sz="1200" dirty="0" smtClean="0"/>
              <a:t> </a:t>
            </a:r>
            <a:r>
              <a:rPr lang="en-US" sz="1200" dirty="0" err="1" smtClean="0"/>
              <a:t>Cukai</a:t>
            </a:r>
            <a:r>
              <a:rPr lang="en-US" sz="1200" dirty="0" smtClean="0"/>
              <a:t> </a:t>
            </a:r>
            <a:r>
              <a:rPr lang="en-US" sz="1200" dirty="0" err="1" smtClean="0"/>
              <a:t>Jualan</a:t>
            </a:r>
            <a:r>
              <a:rPr lang="en-US" sz="1200" dirty="0" smtClean="0"/>
              <a:t>)2018 </a:t>
            </a:r>
            <a:r>
              <a:rPr lang="en-US" sz="1200" dirty="0" err="1" smtClean="0"/>
              <a:t>tertakluk</a:t>
            </a:r>
            <a:r>
              <a:rPr lang="en-US" sz="1200" dirty="0" smtClean="0"/>
              <a:t> </a:t>
            </a:r>
            <a:r>
              <a:rPr lang="en-US" sz="1200" dirty="0" err="1" smtClean="0"/>
              <a:t>kepada</a:t>
            </a:r>
            <a:r>
              <a:rPr lang="en-US" sz="1200" dirty="0" smtClean="0"/>
              <a:t> </a:t>
            </a:r>
            <a:r>
              <a:rPr lang="en-US" sz="1200" dirty="0" err="1" smtClean="0"/>
              <a:t>syarat-syarat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ditetapkan</a:t>
            </a:r>
            <a:r>
              <a:rPr lang="en-US" sz="1200" dirty="0" smtClean="0"/>
              <a:t> .</a:t>
            </a:r>
            <a:r>
              <a:rPr lang="en-US" sz="1200" dirty="0" err="1" smtClean="0"/>
              <a:t>Saya</a:t>
            </a:r>
            <a:r>
              <a:rPr lang="en-US" sz="1200" dirty="0" smtClean="0"/>
              <a:t> </a:t>
            </a:r>
            <a:r>
              <a:rPr lang="en-US" sz="1200" dirty="0" err="1" smtClean="0"/>
              <a:t>mengaku</a:t>
            </a:r>
            <a:r>
              <a:rPr lang="en-US" sz="1200" dirty="0" smtClean="0"/>
              <a:t> </a:t>
            </a:r>
            <a:r>
              <a:rPr lang="en-US" sz="1200" dirty="0" err="1" smtClean="0"/>
              <a:t>semua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diberikan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betul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  <a:endParaRPr lang="en-MY" sz="1200" dirty="0"/>
          </a:p>
        </p:txBody>
      </p:sp>
      <p:sp>
        <p:nvSpPr>
          <p:cNvPr id="41" name="Rectangle 40"/>
          <p:cNvSpPr/>
          <p:nvPr/>
        </p:nvSpPr>
        <p:spPr>
          <a:xfrm>
            <a:off x="625180" y="4854890"/>
            <a:ext cx="4832645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Muat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Naik</a:t>
            </a:r>
            <a:r>
              <a:rPr lang="en-US" sz="1200" dirty="0" smtClean="0">
                <a:solidFill>
                  <a:schemeClr val="tx1"/>
                </a:solidFill>
              </a:rPr>
              <a:t> Fail </a:t>
            </a:r>
            <a:r>
              <a:rPr lang="en-US" sz="1200" dirty="0" err="1" smtClean="0">
                <a:solidFill>
                  <a:schemeClr val="tx1"/>
                </a:solidFill>
              </a:rPr>
              <a:t>Berkaitan</a:t>
            </a:r>
            <a:r>
              <a:rPr lang="en-US" sz="1200" dirty="0" smtClean="0">
                <a:solidFill>
                  <a:schemeClr val="tx1"/>
                </a:solidFill>
              </a:rPr>
              <a:t>(SSM, MAA, PDA2, </a:t>
            </a:r>
            <a:r>
              <a:rPr lang="en-US" sz="1200" dirty="0" err="1" smtClean="0">
                <a:solidFill>
                  <a:schemeClr val="tx1"/>
                </a:solidFill>
              </a:rPr>
              <a:t>Surat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kelulusan</a:t>
            </a:r>
            <a:r>
              <a:rPr lang="en-US" sz="1200" dirty="0" smtClean="0">
                <a:solidFill>
                  <a:schemeClr val="tx1"/>
                </a:solidFill>
              </a:rPr>
              <a:t> ship chandler</a:t>
            </a:r>
            <a:endParaRPr lang="en-MY" sz="1200" dirty="0">
              <a:solidFill>
                <a:schemeClr val="tx1"/>
              </a:solidFill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/>
          <a:srcRect l="7143" t="85339" r="7948" b="8194"/>
          <a:stretch/>
        </p:blipFill>
        <p:spPr>
          <a:xfrm>
            <a:off x="564487" y="5201671"/>
            <a:ext cx="7784990" cy="333375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3"/>
          <a:srcRect l="8098" t="83078" r="85404" b="10318"/>
          <a:stretch/>
        </p:blipFill>
        <p:spPr>
          <a:xfrm>
            <a:off x="2353546" y="6298011"/>
            <a:ext cx="845389" cy="48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98935" y="6390694"/>
            <a:ext cx="1000129" cy="32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Simpan</a:t>
            </a:r>
            <a:endParaRPr lang="en-MY" dirty="0"/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1768973" y="6551180"/>
            <a:ext cx="630651" cy="5692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20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42371"/>
            <a:ext cx="8594650" cy="4832131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5" name="Rectangle 4"/>
          <p:cNvSpPr/>
          <p:nvPr/>
        </p:nvSpPr>
        <p:spPr>
          <a:xfrm>
            <a:off x="2390085" y="1913435"/>
            <a:ext cx="3101687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Pengecualian</a:t>
            </a:r>
            <a:r>
              <a:rPr lang="en-US" dirty="0" smtClean="0"/>
              <a:t> </a:t>
            </a:r>
            <a:r>
              <a:rPr lang="en-US" dirty="0" err="1" smtClean="0"/>
              <a:t>Butiran</a:t>
            </a:r>
            <a:r>
              <a:rPr lang="en-US" dirty="0" smtClean="0"/>
              <a:t> 58A</a:t>
            </a:r>
            <a:endParaRPr lang="en-MY" dirty="0"/>
          </a:p>
        </p:txBody>
      </p:sp>
      <p:sp>
        <p:nvSpPr>
          <p:cNvPr id="6" name="TextBox 5"/>
          <p:cNvSpPr txBox="1"/>
          <p:nvPr/>
        </p:nvSpPr>
        <p:spPr>
          <a:xfrm>
            <a:off x="1732502" y="2228596"/>
            <a:ext cx="345244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Kawasan</a:t>
            </a:r>
            <a:r>
              <a:rPr lang="en-US" sz="1200" dirty="0" smtClean="0"/>
              <a:t>/Status/No </a:t>
            </a:r>
            <a:r>
              <a:rPr lang="en-US" sz="1200" dirty="0" err="1" smtClean="0"/>
              <a:t>Sijil</a:t>
            </a:r>
            <a:r>
              <a:rPr lang="en-US" sz="1200" dirty="0" smtClean="0"/>
              <a:t>/</a:t>
            </a:r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endParaRPr lang="en-MY" sz="1200" dirty="0"/>
          </a:p>
        </p:txBody>
      </p:sp>
      <p:sp>
        <p:nvSpPr>
          <p:cNvPr id="7" name="Rectangle 6"/>
          <p:cNvSpPr/>
          <p:nvPr/>
        </p:nvSpPr>
        <p:spPr>
          <a:xfrm>
            <a:off x="2362139" y="15801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8" name="Rectangle 7"/>
          <p:cNvSpPr/>
          <p:nvPr/>
        </p:nvSpPr>
        <p:spPr>
          <a:xfrm>
            <a:off x="3989616" y="15801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1" name="Right Arrow 10"/>
          <p:cNvSpPr/>
          <p:nvPr/>
        </p:nvSpPr>
        <p:spPr>
          <a:xfrm rot="5654867">
            <a:off x="3034027" y="997552"/>
            <a:ext cx="993813" cy="2550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/>
          <p:cNvSpPr/>
          <p:nvPr/>
        </p:nvSpPr>
        <p:spPr>
          <a:xfrm>
            <a:off x="1168475" y="1589131"/>
            <a:ext cx="1087907" cy="208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15" name="Rectangle 14"/>
          <p:cNvSpPr/>
          <p:nvPr/>
        </p:nvSpPr>
        <p:spPr>
          <a:xfrm>
            <a:off x="-93473" y="1540701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 Syarikat</a:t>
            </a:r>
            <a:endParaRPr lang="en-MY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8141346" y="2543949"/>
            <a:ext cx="894303" cy="3350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Kembali</a:t>
            </a:r>
            <a:endParaRPr lang="en-MY" sz="1600" dirty="0"/>
          </a:p>
        </p:txBody>
      </p:sp>
      <p:sp>
        <p:nvSpPr>
          <p:cNvPr id="24" name="Rectangle 23"/>
          <p:cNvSpPr/>
          <p:nvPr/>
        </p:nvSpPr>
        <p:spPr>
          <a:xfrm>
            <a:off x="5858189" y="3637503"/>
            <a:ext cx="2260879" cy="74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Diisi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endParaRPr lang="en-MY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" y="2588362"/>
            <a:ext cx="8141346" cy="34256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61468" y="2588362"/>
            <a:ext cx="3657599" cy="335079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ounded Rectangle 25"/>
          <p:cNvSpPr/>
          <p:nvPr/>
        </p:nvSpPr>
        <p:spPr>
          <a:xfrm>
            <a:off x="7409204" y="2755901"/>
            <a:ext cx="695191" cy="3252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pdf</a:t>
            </a:r>
            <a:endParaRPr lang="en-MY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6996967" y="2905617"/>
            <a:ext cx="30145" cy="9073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704315" y="15801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382762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93227"/>
            <a:ext cx="8594650" cy="48321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8347" y="1961008"/>
            <a:ext cx="3065953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Laporan</a:t>
            </a:r>
            <a:r>
              <a:rPr lang="en-US" dirty="0" smtClean="0"/>
              <a:t> CJ(P)</a:t>
            </a:r>
            <a:endParaRPr lang="en-MY" dirty="0"/>
          </a:p>
        </p:txBody>
      </p:sp>
      <p:sp>
        <p:nvSpPr>
          <p:cNvPr id="11" name="Right Arrow 10"/>
          <p:cNvSpPr/>
          <p:nvPr/>
        </p:nvSpPr>
        <p:spPr>
          <a:xfrm rot="5654867">
            <a:off x="4347617" y="1040344"/>
            <a:ext cx="993813" cy="2550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/>
          <p:cNvSpPr/>
          <p:nvPr/>
        </p:nvSpPr>
        <p:spPr>
          <a:xfrm>
            <a:off x="5614437" y="1594088"/>
            <a:ext cx="2214270" cy="19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6" name="Rectangle 15"/>
          <p:cNvSpPr/>
          <p:nvPr/>
        </p:nvSpPr>
        <p:spPr>
          <a:xfrm>
            <a:off x="858347" y="2306068"/>
            <a:ext cx="3945006" cy="2358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20646" y="2982814"/>
            <a:ext cx="1039382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Tahun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30850" y="3000359"/>
            <a:ext cx="1455011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0647" y="3462417"/>
            <a:ext cx="1039381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Bulan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2886" y="3409292"/>
            <a:ext cx="1455011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Januari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 flipV="1">
            <a:off x="3944338" y="3027322"/>
            <a:ext cx="341523" cy="3456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Isosceles Triangle 21"/>
          <p:cNvSpPr/>
          <p:nvPr/>
        </p:nvSpPr>
        <p:spPr>
          <a:xfrm flipV="1">
            <a:off x="3944337" y="3432386"/>
            <a:ext cx="341523" cy="3456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Rectangle 22"/>
          <p:cNvSpPr/>
          <p:nvPr/>
        </p:nvSpPr>
        <p:spPr>
          <a:xfrm>
            <a:off x="974481" y="3898937"/>
            <a:ext cx="3712739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Muat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naik</a:t>
            </a:r>
            <a:r>
              <a:rPr lang="en-US" sz="1200" dirty="0" smtClean="0">
                <a:solidFill>
                  <a:schemeClr val="tx1"/>
                </a:solidFill>
              </a:rPr>
              <a:t> Fail </a:t>
            </a:r>
            <a:r>
              <a:rPr lang="en-US" sz="1200" dirty="0" err="1" smtClean="0">
                <a:solidFill>
                  <a:schemeClr val="tx1"/>
                </a:solidFill>
              </a:rPr>
              <a:t>Berkaitan</a:t>
            </a:r>
            <a:r>
              <a:rPr lang="en-US" sz="1200" dirty="0" smtClean="0">
                <a:solidFill>
                  <a:schemeClr val="tx1"/>
                </a:solidFill>
              </a:rPr>
              <a:t> (</a:t>
            </a:r>
            <a:r>
              <a:rPr lang="en-US" sz="1200" dirty="0" err="1" smtClean="0">
                <a:solidFill>
                  <a:schemeClr val="tx1"/>
                </a:solidFill>
              </a:rPr>
              <a:t>Laporan</a:t>
            </a:r>
            <a:r>
              <a:rPr lang="en-US" sz="1200" dirty="0" smtClean="0">
                <a:solidFill>
                  <a:schemeClr val="tx1"/>
                </a:solidFill>
              </a:rPr>
              <a:t> CJ(P)</a:t>
            </a:r>
            <a:endParaRPr lang="en-MY" sz="1200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8098" t="83078" r="85404" b="10318"/>
          <a:stretch/>
        </p:blipFill>
        <p:spPr>
          <a:xfrm>
            <a:off x="956762" y="4201290"/>
            <a:ext cx="845389" cy="48308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020646" y="2523913"/>
            <a:ext cx="1039382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Nama</a:t>
            </a:r>
            <a:r>
              <a:rPr lang="en-US" sz="1200" dirty="0" smtClean="0">
                <a:solidFill>
                  <a:schemeClr val="tx1"/>
                </a:solidFill>
              </a:rPr>
              <a:t> Syarikat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830850" y="2523913"/>
            <a:ext cx="1455011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Atifa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9344" y="3147498"/>
            <a:ext cx="112395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2025</a:t>
            </a:r>
          </a:p>
          <a:p>
            <a:r>
              <a:rPr lang="en-US" sz="1400" dirty="0" smtClean="0"/>
              <a:t>2026</a:t>
            </a:r>
          </a:p>
          <a:p>
            <a:r>
              <a:rPr lang="en-US" sz="1400" dirty="0" smtClean="0"/>
              <a:t>2027</a:t>
            </a:r>
            <a:endParaRPr lang="en-MY" sz="1400" dirty="0"/>
          </a:p>
        </p:txBody>
      </p:sp>
      <p:sp>
        <p:nvSpPr>
          <p:cNvPr id="6" name="Right Arrow 5"/>
          <p:cNvSpPr/>
          <p:nvPr/>
        </p:nvSpPr>
        <p:spPr>
          <a:xfrm rot="11158959">
            <a:off x="4198989" y="3198195"/>
            <a:ext cx="1282940" cy="25590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TextBox 25"/>
          <p:cNvSpPr txBox="1"/>
          <p:nvPr/>
        </p:nvSpPr>
        <p:spPr>
          <a:xfrm>
            <a:off x="5271580" y="3958383"/>
            <a:ext cx="1123950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Januari</a:t>
            </a:r>
            <a:endParaRPr lang="en-US" sz="1400" dirty="0" smtClean="0"/>
          </a:p>
          <a:p>
            <a:r>
              <a:rPr lang="en-US" sz="1400" dirty="0" err="1" smtClean="0"/>
              <a:t>Februari</a:t>
            </a:r>
            <a:endParaRPr lang="en-US" sz="1400" dirty="0" smtClean="0"/>
          </a:p>
          <a:p>
            <a:r>
              <a:rPr lang="en-US" sz="1400" dirty="0" smtClean="0"/>
              <a:t>Mac</a:t>
            </a:r>
          </a:p>
          <a:p>
            <a:r>
              <a:rPr lang="en-US" sz="1400" dirty="0" smtClean="0"/>
              <a:t>April </a:t>
            </a:r>
            <a:r>
              <a:rPr lang="en-US" sz="1400" dirty="0" err="1" smtClean="0"/>
              <a:t>hingga</a:t>
            </a:r>
            <a:r>
              <a:rPr lang="en-US" sz="1400" dirty="0" smtClean="0"/>
              <a:t> </a:t>
            </a:r>
            <a:r>
              <a:rPr lang="en-US" sz="1400" dirty="0" err="1" smtClean="0"/>
              <a:t>Disember</a:t>
            </a:r>
            <a:endParaRPr lang="en-MY" sz="1400" dirty="0"/>
          </a:p>
        </p:txBody>
      </p:sp>
      <p:sp>
        <p:nvSpPr>
          <p:cNvPr id="27" name="Right Arrow 26"/>
          <p:cNvSpPr/>
          <p:nvPr/>
        </p:nvSpPr>
        <p:spPr>
          <a:xfrm rot="11746628" flipV="1">
            <a:off x="3775239" y="3791172"/>
            <a:ext cx="1501084" cy="258744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Rectangle 28"/>
          <p:cNvSpPr/>
          <p:nvPr/>
        </p:nvSpPr>
        <p:spPr>
          <a:xfrm>
            <a:off x="-93473" y="1540701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 Syarikat</a:t>
            </a:r>
            <a:endParaRPr lang="en-MY" sz="1100" dirty="0"/>
          </a:p>
        </p:txBody>
      </p:sp>
      <p:sp>
        <p:nvSpPr>
          <p:cNvPr id="30" name="Rectangle 29"/>
          <p:cNvSpPr/>
          <p:nvPr/>
        </p:nvSpPr>
        <p:spPr>
          <a:xfrm>
            <a:off x="1144047" y="1580195"/>
            <a:ext cx="1087907" cy="208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31" name="Rectangle 30"/>
          <p:cNvSpPr/>
          <p:nvPr/>
        </p:nvSpPr>
        <p:spPr>
          <a:xfrm>
            <a:off x="2275051" y="15801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32" name="Rectangle 31"/>
          <p:cNvSpPr/>
          <p:nvPr/>
        </p:nvSpPr>
        <p:spPr>
          <a:xfrm>
            <a:off x="3978635" y="1593812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0" name="Rectangle 9"/>
          <p:cNvSpPr/>
          <p:nvPr/>
        </p:nvSpPr>
        <p:spPr>
          <a:xfrm>
            <a:off x="3916136" y="1604688"/>
            <a:ext cx="1649249" cy="199868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3" name="Rectangle 32"/>
          <p:cNvSpPr/>
          <p:nvPr/>
        </p:nvSpPr>
        <p:spPr>
          <a:xfrm>
            <a:off x="1020646" y="2308711"/>
            <a:ext cx="1039382" cy="206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Negeri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30849" y="2308710"/>
            <a:ext cx="1427047" cy="206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Melaka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62371" y="1928583"/>
            <a:ext cx="1784399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Melaka</a:t>
            </a:r>
          </a:p>
          <a:p>
            <a:r>
              <a:rPr lang="en-US" sz="1400" dirty="0" err="1" smtClean="0"/>
              <a:t>Negeri</a:t>
            </a:r>
            <a:r>
              <a:rPr lang="en-US" sz="1400" dirty="0" smtClean="0"/>
              <a:t> Sembilan, WPKL, </a:t>
            </a:r>
            <a:r>
              <a:rPr lang="en-US" sz="1400" dirty="0" err="1" smtClean="0"/>
              <a:t>Putrajaya</a:t>
            </a:r>
            <a:r>
              <a:rPr lang="en-US" sz="1400" dirty="0" smtClean="0"/>
              <a:t>, </a:t>
            </a:r>
            <a:r>
              <a:rPr lang="en-US" sz="1400" dirty="0" err="1" smtClean="0"/>
              <a:t>masuk</a:t>
            </a:r>
            <a:r>
              <a:rPr lang="en-US" sz="1400" dirty="0" smtClean="0"/>
              <a:t> </a:t>
            </a:r>
            <a:r>
              <a:rPr lang="en-US" sz="1400" dirty="0" err="1" smtClean="0"/>
              <a:t>semua</a:t>
            </a:r>
            <a:r>
              <a:rPr lang="en-US" sz="1400" dirty="0" smtClean="0"/>
              <a:t> </a:t>
            </a:r>
            <a:r>
              <a:rPr lang="en-US" sz="1400" dirty="0" err="1" smtClean="0"/>
              <a:t>negeri</a:t>
            </a:r>
            <a:endParaRPr lang="en-US" sz="1400" dirty="0" smtClean="0"/>
          </a:p>
          <a:p>
            <a:endParaRPr lang="en-MY" sz="1400" dirty="0"/>
          </a:p>
        </p:txBody>
      </p:sp>
      <p:sp>
        <p:nvSpPr>
          <p:cNvPr id="36" name="Right Arrow 35"/>
          <p:cNvSpPr/>
          <p:nvPr/>
        </p:nvSpPr>
        <p:spPr>
          <a:xfrm rot="10800000">
            <a:off x="3989772" y="2290094"/>
            <a:ext cx="807260" cy="192195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6661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93227"/>
            <a:ext cx="8594650" cy="48321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484" y="1966414"/>
            <a:ext cx="3430723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Senarai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CJ(P)</a:t>
            </a:r>
            <a:endParaRPr lang="en-MY" dirty="0"/>
          </a:p>
        </p:txBody>
      </p:sp>
      <p:sp>
        <p:nvSpPr>
          <p:cNvPr id="7" name="Rectangle 6"/>
          <p:cNvSpPr/>
          <p:nvPr/>
        </p:nvSpPr>
        <p:spPr>
          <a:xfrm>
            <a:off x="2275051" y="15801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endParaRPr lang="en-MY" sz="1100" dirty="0"/>
          </a:p>
        </p:txBody>
      </p:sp>
      <p:sp>
        <p:nvSpPr>
          <p:cNvPr id="8" name="Rectangle 7"/>
          <p:cNvSpPr/>
          <p:nvPr/>
        </p:nvSpPr>
        <p:spPr>
          <a:xfrm>
            <a:off x="3924300" y="1580195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9" name="Rectangle 8"/>
          <p:cNvSpPr/>
          <p:nvPr/>
        </p:nvSpPr>
        <p:spPr>
          <a:xfrm>
            <a:off x="1214201" y="1580195"/>
            <a:ext cx="979073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12" name="Rectangle 11"/>
          <p:cNvSpPr/>
          <p:nvPr/>
        </p:nvSpPr>
        <p:spPr>
          <a:xfrm>
            <a:off x="5614437" y="1572046"/>
            <a:ext cx="1649249" cy="199868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/>
          <p:cNvSpPr/>
          <p:nvPr/>
        </p:nvSpPr>
        <p:spPr>
          <a:xfrm>
            <a:off x="5655325" y="1585520"/>
            <a:ext cx="2214270" cy="19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376712"/>
              </p:ext>
            </p:extLst>
          </p:nvPr>
        </p:nvGraphicFramePr>
        <p:xfrm>
          <a:off x="875732" y="2648607"/>
          <a:ext cx="5024617" cy="380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571"/>
                <a:gridCol w="1033571"/>
                <a:gridCol w="876289"/>
                <a:gridCol w="1103787"/>
                <a:gridCol w="977399"/>
              </a:tblGrid>
              <a:tr h="5761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Negeri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Nama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Syarikat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Tahun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Bulan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Laporan</a:t>
                      </a:r>
                      <a:r>
                        <a:rPr lang="en-MY" sz="1200" u="none" strike="noStrike" dirty="0" smtClean="0">
                          <a:effectLst/>
                        </a:rPr>
                        <a:t> CJ(P)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</a:tr>
              <a:tr h="146050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>
                          <a:effectLst/>
                        </a:rPr>
                        <a:t> </a:t>
                      </a: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</a:tr>
            </a:tbl>
          </a:graphicData>
        </a:graphic>
      </p:graphicFrame>
      <p:sp>
        <p:nvSpPr>
          <p:cNvPr id="11" name="Right Arrow 10"/>
          <p:cNvSpPr/>
          <p:nvPr/>
        </p:nvSpPr>
        <p:spPr>
          <a:xfrm rot="5654867">
            <a:off x="5386318" y="1039442"/>
            <a:ext cx="993813" cy="25509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/>
          <p:cNvSpPr txBox="1"/>
          <p:nvPr/>
        </p:nvSpPr>
        <p:spPr>
          <a:xfrm>
            <a:off x="4986490" y="2811461"/>
            <a:ext cx="1465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Link pdf</a:t>
            </a:r>
            <a:endParaRPr lang="en-MY" sz="1200" dirty="0"/>
          </a:p>
        </p:txBody>
      </p:sp>
      <p:sp>
        <p:nvSpPr>
          <p:cNvPr id="6" name="Rectangle 5"/>
          <p:cNvSpPr/>
          <p:nvPr/>
        </p:nvSpPr>
        <p:spPr>
          <a:xfrm>
            <a:off x="1770278" y="2367031"/>
            <a:ext cx="2283929" cy="1493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1931214" y="2291389"/>
            <a:ext cx="1840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Tahun</a:t>
            </a:r>
            <a:r>
              <a:rPr lang="en-US" sz="1200" dirty="0" smtClean="0"/>
              <a:t> / </a:t>
            </a:r>
            <a:r>
              <a:rPr lang="en-US" sz="1200" dirty="0" err="1" smtClean="0"/>
              <a:t>Bulan</a:t>
            </a:r>
            <a:r>
              <a:rPr lang="en-US" sz="1200" dirty="0" smtClean="0"/>
              <a:t>  </a:t>
            </a:r>
            <a:endParaRPr lang="en-MY" sz="1200" dirty="0"/>
          </a:p>
        </p:txBody>
      </p:sp>
      <p:sp>
        <p:nvSpPr>
          <p:cNvPr id="18" name="Rectangle 17"/>
          <p:cNvSpPr/>
          <p:nvPr/>
        </p:nvSpPr>
        <p:spPr>
          <a:xfrm>
            <a:off x="7741" y="1538988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MyPetroleum</a:t>
            </a:r>
            <a:endParaRPr lang="en-US" sz="1100" dirty="0" smtClean="0"/>
          </a:p>
          <a:p>
            <a:pPr algn="ctr"/>
            <a:r>
              <a:rPr lang="en-US" sz="1100" dirty="0" smtClean="0"/>
              <a:t> Syarikat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740879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43" y="989350"/>
            <a:ext cx="8100281" cy="45541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59561" y="4379588"/>
            <a:ext cx="1649249" cy="199868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ight Arrow 7"/>
          <p:cNvSpPr/>
          <p:nvPr/>
        </p:nvSpPr>
        <p:spPr>
          <a:xfrm rot="10539700">
            <a:off x="5091744" y="4374860"/>
            <a:ext cx="1112703" cy="20932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/>
          <p:cNvSpPr txBox="1"/>
          <p:nvPr/>
        </p:nvSpPr>
        <p:spPr>
          <a:xfrm>
            <a:off x="1497106" y="331694"/>
            <a:ext cx="2321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SKRIN JKDM </a:t>
            </a:r>
            <a:endParaRPr lang="en-MY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601" y="1697890"/>
            <a:ext cx="1472494" cy="7239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27943" y="2477813"/>
            <a:ext cx="2742480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sz="1600" b="1" dirty="0" err="1" smtClean="0">
                <a:solidFill>
                  <a:schemeClr val="tx1"/>
                </a:solidFill>
              </a:rPr>
              <a:t>MyPetroleum</a:t>
            </a:r>
            <a:r>
              <a:rPr lang="en-US" sz="1600" b="1" dirty="0" smtClean="0">
                <a:solidFill>
                  <a:schemeClr val="tx1"/>
                </a:solidFill>
              </a:rPr>
              <a:t> JKDM </a:t>
            </a:r>
          </a:p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21430" y="4867780"/>
            <a:ext cx="2548993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Jabatan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Kastam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Diraja</a:t>
            </a:r>
            <a:r>
              <a:rPr lang="en-US" sz="1200" dirty="0" smtClean="0">
                <a:solidFill>
                  <a:schemeClr val="tx1"/>
                </a:solidFill>
              </a:rPr>
              <a:t> Malaysia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1815" t="85309" b="5664"/>
          <a:stretch/>
        </p:blipFill>
        <p:spPr>
          <a:xfrm>
            <a:off x="549043" y="5293883"/>
            <a:ext cx="8002171" cy="53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15" t="5549" b="5665"/>
          <a:stretch/>
        </p:blipFill>
        <p:spPr>
          <a:xfrm>
            <a:off x="121180" y="414867"/>
            <a:ext cx="8802688" cy="52662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76787" y="1253765"/>
            <a:ext cx="2604777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032410" y="1884646"/>
            <a:ext cx="6787613" cy="2430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Selamat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Datang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r>
              <a:rPr lang="en-US" sz="1200" dirty="0" smtClean="0">
                <a:solidFill>
                  <a:schemeClr val="tx1"/>
                </a:solidFill>
              </a:rPr>
              <a:t>- </a:t>
            </a:r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Petroleum.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Sistem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MyPetroleum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dibangunkan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sebagai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satu</a:t>
            </a:r>
            <a:r>
              <a:rPr lang="en-MY" sz="1200" dirty="0">
                <a:solidFill>
                  <a:schemeClr val="tx1"/>
                </a:solidFill>
              </a:rPr>
              <a:t> platform </a:t>
            </a:r>
            <a:r>
              <a:rPr lang="en-MY" sz="1200" dirty="0" err="1">
                <a:solidFill>
                  <a:schemeClr val="tx1"/>
                </a:solidFill>
              </a:rPr>
              <a:t>untuk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memohon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pengecualian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bagi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bagi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minyak</a:t>
            </a:r>
            <a:r>
              <a:rPr lang="en-MY" sz="1200" dirty="0">
                <a:solidFill>
                  <a:schemeClr val="tx1"/>
                </a:solidFill>
              </a:rPr>
              <a:t> bunker </a:t>
            </a:r>
            <a:r>
              <a:rPr lang="en-MY" sz="1200" dirty="0" err="1">
                <a:solidFill>
                  <a:schemeClr val="tx1"/>
                </a:solidFill>
              </a:rPr>
              <a:t>ke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atas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kapal-kapal</a:t>
            </a:r>
            <a:r>
              <a:rPr lang="en-MY" sz="1200" dirty="0">
                <a:solidFill>
                  <a:schemeClr val="tx1"/>
                </a:solidFill>
              </a:rPr>
              <a:t> yang </a:t>
            </a:r>
            <a:r>
              <a:rPr lang="en-MY" sz="1200" dirty="0" err="1">
                <a:solidFill>
                  <a:schemeClr val="tx1"/>
                </a:solidFill>
              </a:rPr>
              <a:t>layak</a:t>
            </a:r>
            <a:r>
              <a:rPr lang="en-MY" sz="1200" dirty="0">
                <a:solidFill>
                  <a:schemeClr val="tx1"/>
                </a:solidFill>
              </a:rPr>
              <a:t>. Bunkering </a:t>
            </a:r>
            <a:r>
              <a:rPr lang="en-MY" sz="1200" dirty="0" err="1">
                <a:solidFill>
                  <a:schemeClr val="tx1"/>
                </a:solidFill>
              </a:rPr>
              <a:t>adalah</a:t>
            </a:r>
            <a:r>
              <a:rPr lang="en-MY" sz="1200" dirty="0">
                <a:solidFill>
                  <a:schemeClr val="tx1"/>
                </a:solidFill>
              </a:rPr>
              <a:t> proses </a:t>
            </a:r>
            <a:r>
              <a:rPr lang="en-MY" sz="1200" dirty="0" err="1">
                <a:solidFill>
                  <a:schemeClr val="tx1"/>
                </a:solidFill>
              </a:rPr>
              <a:t>menyalurkan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bahan</a:t>
            </a:r>
            <a:r>
              <a:rPr lang="en-MY" sz="1200" dirty="0">
                <a:solidFill>
                  <a:schemeClr val="tx1"/>
                </a:solidFill>
              </a:rPr>
              <a:t> petroleum </a:t>
            </a:r>
            <a:r>
              <a:rPr lang="en-MY" sz="1200" dirty="0" err="1">
                <a:solidFill>
                  <a:schemeClr val="tx1"/>
                </a:solidFill>
              </a:rPr>
              <a:t>untuk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menggerakkan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enjin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</a:t>
            </a:r>
            <a:r>
              <a:rPr lang="en-MY" sz="1200" dirty="0" smtClean="0">
                <a:solidFill>
                  <a:schemeClr val="tx1"/>
                </a:solidFill>
              </a:rPr>
              <a:t>.</a:t>
            </a:r>
          </a:p>
          <a:p>
            <a:endParaRPr lang="en-MY" sz="1200" dirty="0">
              <a:solidFill>
                <a:schemeClr val="tx1"/>
              </a:solidFill>
            </a:endParaRPr>
          </a:p>
          <a:p>
            <a:r>
              <a:rPr lang="en-MY" sz="1200" dirty="0">
                <a:solidFill>
                  <a:schemeClr val="tx1"/>
                </a:solidFill>
              </a:rPr>
              <a:t>Di </a:t>
            </a:r>
            <a:r>
              <a:rPr lang="en-MY" sz="1200" dirty="0" err="1">
                <a:solidFill>
                  <a:schemeClr val="tx1"/>
                </a:solidFill>
              </a:rPr>
              <a:t>bawah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Seksyen</a:t>
            </a:r>
            <a:r>
              <a:rPr lang="en-MY" sz="1200" dirty="0">
                <a:solidFill>
                  <a:schemeClr val="tx1"/>
                </a:solidFill>
              </a:rPr>
              <a:t> 35(1) </a:t>
            </a:r>
            <a:r>
              <a:rPr lang="en-MY" sz="1200" dirty="0" err="1">
                <a:solidFill>
                  <a:schemeClr val="tx1"/>
                </a:solidFill>
              </a:rPr>
              <a:t>Akta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2018, </a:t>
            </a:r>
            <a:r>
              <a:rPr lang="en-MY" sz="1200" dirty="0" err="1">
                <a:solidFill>
                  <a:schemeClr val="tx1"/>
                </a:solidFill>
              </a:rPr>
              <a:t>aktiviti</a:t>
            </a:r>
            <a:r>
              <a:rPr lang="en-MY" sz="1200" dirty="0">
                <a:solidFill>
                  <a:schemeClr val="tx1"/>
                </a:solidFill>
              </a:rPr>
              <a:t> bunkering </a:t>
            </a:r>
            <a:r>
              <a:rPr lang="en-MY" sz="1200" dirty="0" err="1">
                <a:solidFill>
                  <a:schemeClr val="tx1"/>
                </a:solidFill>
              </a:rPr>
              <a:t>telah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diberikan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pengecualian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ke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atas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kapal-kapal</a:t>
            </a:r>
            <a:r>
              <a:rPr lang="en-MY" sz="1200" dirty="0">
                <a:solidFill>
                  <a:schemeClr val="tx1"/>
                </a:solidFill>
              </a:rPr>
              <a:t> yang </a:t>
            </a:r>
            <a:r>
              <a:rPr lang="en-MY" sz="1200" dirty="0" err="1">
                <a:solidFill>
                  <a:schemeClr val="tx1"/>
                </a:solidFill>
              </a:rPr>
              <a:t>layak</a:t>
            </a:r>
            <a:r>
              <a:rPr lang="en-MY" sz="1200" dirty="0">
                <a:solidFill>
                  <a:schemeClr val="tx1"/>
                </a:solidFill>
              </a:rPr>
              <a:t> di </a:t>
            </a:r>
            <a:r>
              <a:rPr lang="en-MY" sz="1200" dirty="0" err="1">
                <a:solidFill>
                  <a:schemeClr val="tx1"/>
                </a:solidFill>
              </a:rPr>
              <a:t>bawah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Butiran</a:t>
            </a:r>
            <a:r>
              <a:rPr lang="en-MY" sz="1200" dirty="0">
                <a:solidFill>
                  <a:schemeClr val="tx1"/>
                </a:solidFill>
              </a:rPr>
              <a:t> 58 </a:t>
            </a:r>
            <a:r>
              <a:rPr lang="en-MY" sz="1200" dirty="0" err="1">
                <a:solidFill>
                  <a:schemeClr val="tx1"/>
                </a:solidFill>
              </a:rPr>
              <a:t>dan</a:t>
            </a:r>
            <a:r>
              <a:rPr lang="en-MY" sz="1200" dirty="0">
                <a:solidFill>
                  <a:schemeClr val="tx1"/>
                </a:solidFill>
              </a:rPr>
              <a:t> 58 A , </a:t>
            </a:r>
            <a:r>
              <a:rPr lang="en-MY" sz="1200" dirty="0" err="1">
                <a:solidFill>
                  <a:schemeClr val="tx1"/>
                </a:solidFill>
              </a:rPr>
              <a:t>Perintah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(Orang Yang </a:t>
            </a:r>
            <a:r>
              <a:rPr lang="en-MY" sz="1200" dirty="0" err="1">
                <a:solidFill>
                  <a:schemeClr val="tx1"/>
                </a:solidFill>
              </a:rPr>
              <a:t>Dikecualikan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Daripada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Pembayaran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) 2018.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73" y="1161279"/>
            <a:ext cx="1220282" cy="6071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50373" y="3723264"/>
            <a:ext cx="2065658" cy="435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KPDN </a:t>
            </a:r>
            <a:endParaRPr lang="en-MY" dirty="0"/>
          </a:p>
        </p:txBody>
      </p:sp>
      <p:sp>
        <p:nvSpPr>
          <p:cNvPr id="10" name="Rectangle 9"/>
          <p:cNvSpPr/>
          <p:nvPr/>
        </p:nvSpPr>
        <p:spPr>
          <a:xfrm>
            <a:off x="2524124" y="4474576"/>
            <a:ext cx="1751479" cy="2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58A </a:t>
            </a:r>
            <a:endParaRPr lang="en-MY" sz="1200" dirty="0"/>
          </a:p>
        </p:txBody>
      </p:sp>
      <p:sp>
        <p:nvSpPr>
          <p:cNvPr id="13" name="Rectangle 12"/>
          <p:cNvSpPr/>
          <p:nvPr/>
        </p:nvSpPr>
        <p:spPr>
          <a:xfrm>
            <a:off x="1226699" y="798775"/>
            <a:ext cx="2189912" cy="26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15" name="Rectangle 14"/>
          <p:cNvSpPr/>
          <p:nvPr/>
        </p:nvSpPr>
        <p:spPr>
          <a:xfrm>
            <a:off x="-448685" y="751625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 Syarikat</a:t>
            </a:r>
            <a:endParaRPr lang="en-MY" sz="1100" dirty="0"/>
          </a:p>
        </p:txBody>
      </p:sp>
      <p:sp>
        <p:nvSpPr>
          <p:cNvPr id="16" name="Rectangle 15"/>
          <p:cNvSpPr/>
          <p:nvPr/>
        </p:nvSpPr>
        <p:spPr>
          <a:xfrm>
            <a:off x="3626085" y="836570"/>
            <a:ext cx="2009516" cy="209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1032411" y="77118"/>
            <a:ext cx="168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Skrin</a:t>
            </a:r>
            <a:r>
              <a:rPr lang="en-US" dirty="0" smtClean="0"/>
              <a:t> </a:t>
            </a:r>
            <a:r>
              <a:rPr lang="en-US" dirty="0" err="1" smtClean="0"/>
              <a:t>syarikat</a:t>
            </a:r>
            <a:endParaRPr lang="en-MY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723813" y="1013630"/>
            <a:ext cx="444180" cy="333836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312229" y="4474576"/>
            <a:ext cx="1703802" cy="2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54336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42371"/>
            <a:ext cx="8594650" cy="4832131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5" name="Rectangle 4"/>
          <p:cNvSpPr/>
          <p:nvPr/>
        </p:nvSpPr>
        <p:spPr>
          <a:xfrm>
            <a:off x="2390085" y="1913435"/>
            <a:ext cx="3101687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Pengecualian</a:t>
            </a:r>
            <a:r>
              <a:rPr lang="en-US" dirty="0" smtClean="0"/>
              <a:t> </a:t>
            </a:r>
            <a:r>
              <a:rPr lang="en-US" dirty="0" err="1" smtClean="0"/>
              <a:t>Butiran</a:t>
            </a:r>
            <a:r>
              <a:rPr lang="en-US" dirty="0" smtClean="0"/>
              <a:t> 58A</a:t>
            </a:r>
            <a:endParaRPr lang="en-MY" dirty="0"/>
          </a:p>
        </p:txBody>
      </p:sp>
      <p:sp>
        <p:nvSpPr>
          <p:cNvPr id="6" name="TextBox 5"/>
          <p:cNvSpPr txBox="1"/>
          <p:nvPr/>
        </p:nvSpPr>
        <p:spPr>
          <a:xfrm>
            <a:off x="1732502" y="2228596"/>
            <a:ext cx="345244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Kawasan</a:t>
            </a:r>
            <a:r>
              <a:rPr lang="en-US" sz="1200" dirty="0" smtClean="0"/>
              <a:t>/Status/No </a:t>
            </a:r>
            <a:r>
              <a:rPr lang="en-US" sz="1200" dirty="0" err="1" smtClean="0"/>
              <a:t>Sijil</a:t>
            </a:r>
            <a:r>
              <a:rPr lang="en-US" sz="1200" dirty="0" smtClean="0"/>
              <a:t>/</a:t>
            </a:r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endParaRPr lang="en-MY" sz="1200" dirty="0"/>
          </a:p>
        </p:txBody>
      </p:sp>
      <p:sp>
        <p:nvSpPr>
          <p:cNvPr id="15" name="Rectangle 14"/>
          <p:cNvSpPr/>
          <p:nvPr/>
        </p:nvSpPr>
        <p:spPr>
          <a:xfrm>
            <a:off x="-93473" y="1540701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 JKDM</a:t>
            </a:r>
            <a:endParaRPr lang="en-MY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8141346" y="2543949"/>
            <a:ext cx="894303" cy="3350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semak</a:t>
            </a:r>
            <a:endParaRPr lang="en-MY" sz="1600" dirty="0"/>
          </a:p>
        </p:txBody>
      </p:sp>
      <p:sp>
        <p:nvSpPr>
          <p:cNvPr id="24" name="Rectangle 23"/>
          <p:cNvSpPr/>
          <p:nvPr/>
        </p:nvSpPr>
        <p:spPr>
          <a:xfrm>
            <a:off x="5858189" y="3637503"/>
            <a:ext cx="2260879" cy="74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Diisi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endParaRPr lang="en-MY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" y="2588362"/>
            <a:ext cx="8141346" cy="34256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61468" y="2588362"/>
            <a:ext cx="3657599" cy="335079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ounded Rectangle 25"/>
          <p:cNvSpPr/>
          <p:nvPr/>
        </p:nvSpPr>
        <p:spPr>
          <a:xfrm>
            <a:off x="7409204" y="2755901"/>
            <a:ext cx="695191" cy="3252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pdf</a:t>
            </a:r>
            <a:endParaRPr lang="en-MY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6996967" y="2905617"/>
            <a:ext cx="30145" cy="9073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527894" y="1571540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7" name="Rectangle 16"/>
          <p:cNvSpPr/>
          <p:nvPr/>
        </p:nvSpPr>
        <p:spPr>
          <a:xfrm>
            <a:off x="1220570" y="1540701"/>
            <a:ext cx="2189912" cy="26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2" name="Left Arrow 1"/>
          <p:cNvSpPr/>
          <p:nvPr/>
        </p:nvSpPr>
        <p:spPr>
          <a:xfrm rot="5400000">
            <a:off x="8033985" y="3155836"/>
            <a:ext cx="992971" cy="321338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/>
          <p:cNvSpPr/>
          <p:nvPr/>
        </p:nvSpPr>
        <p:spPr>
          <a:xfrm>
            <a:off x="3281972" y="3327620"/>
            <a:ext cx="2209800" cy="420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tindakan</a:t>
            </a:r>
            <a:r>
              <a:rPr lang="en-US" dirty="0" smtClean="0"/>
              <a:t> (default)</a:t>
            </a:r>
            <a:endParaRPr lang="en-MY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619599" y="2784422"/>
            <a:ext cx="173908" cy="49979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479" y="1814071"/>
            <a:ext cx="157184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8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1411" y="324279"/>
            <a:ext cx="4544014" cy="2544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Semakan</a:t>
            </a:r>
            <a:r>
              <a:rPr lang="en-US" sz="1100" dirty="0" smtClean="0"/>
              <a:t>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Pengecualian</a:t>
            </a:r>
            <a:r>
              <a:rPr lang="en-US" sz="1100" dirty="0" smtClean="0"/>
              <a:t> </a:t>
            </a:r>
            <a:r>
              <a:rPr lang="en-US" sz="1100" dirty="0" err="1" smtClean="0"/>
              <a:t>Cukai</a:t>
            </a:r>
            <a:r>
              <a:rPr lang="en-US" sz="1100" dirty="0" smtClean="0"/>
              <a:t> </a:t>
            </a:r>
            <a:r>
              <a:rPr lang="en-US" sz="1100" dirty="0" err="1" smtClean="0"/>
              <a:t>Jualan</a:t>
            </a:r>
            <a:r>
              <a:rPr lang="en-US" sz="1100" dirty="0" smtClean="0"/>
              <a:t> di </a:t>
            </a:r>
            <a:r>
              <a:rPr lang="en-US" sz="1100" dirty="0" err="1" smtClean="0"/>
              <a:t>bawah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674016" y="1263192"/>
            <a:ext cx="992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8" name="Rectangle 7"/>
          <p:cNvSpPr/>
          <p:nvPr/>
        </p:nvSpPr>
        <p:spPr>
          <a:xfrm>
            <a:off x="2314575" y="1299891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/>
          <p:cNvSpPr txBox="1"/>
          <p:nvPr/>
        </p:nvSpPr>
        <p:spPr>
          <a:xfrm>
            <a:off x="674016" y="1699351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No,Telefon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0" name="Rectangle 9"/>
          <p:cNvSpPr/>
          <p:nvPr/>
        </p:nvSpPr>
        <p:spPr>
          <a:xfrm>
            <a:off x="2314575" y="174089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2314575" y="2181907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674016" y="2108091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Alamat</a:t>
            </a:r>
            <a:r>
              <a:rPr lang="en-US" sz="1200" dirty="0" smtClean="0"/>
              <a:t> </a:t>
            </a:r>
            <a:r>
              <a:rPr lang="en-US" sz="1200" dirty="0" err="1"/>
              <a:t>E</a:t>
            </a:r>
            <a:r>
              <a:rPr lang="en-US" sz="1200" dirty="0" err="1" smtClean="0"/>
              <a:t>mel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74015" y="2640162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No.Kad</a:t>
            </a:r>
            <a:r>
              <a:rPr lang="en-US" sz="1200" dirty="0" smtClean="0"/>
              <a:t> </a:t>
            </a:r>
            <a:r>
              <a:rPr lang="en-US" sz="1200" dirty="0" err="1" smtClean="0"/>
              <a:t>Pengenalan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4" name="Rectangle 13"/>
          <p:cNvSpPr/>
          <p:nvPr/>
        </p:nvSpPr>
        <p:spPr>
          <a:xfrm>
            <a:off x="2314575" y="2681594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674014" y="3098647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Jawatan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6" name="Rectangle 15"/>
          <p:cNvSpPr/>
          <p:nvPr/>
        </p:nvSpPr>
        <p:spPr>
          <a:xfrm>
            <a:off x="2314575" y="311734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TextBox 16"/>
          <p:cNvSpPr txBox="1"/>
          <p:nvPr/>
        </p:nvSpPr>
        <p:spPr>
          <a:xfrm>
            <a:off x="674013" y="3539655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Syarikat:</a:t>
            </a:r>
            <a:endParaRPr lang="en-MY" sz="1200" dirty="0"/>
          </a:p>
        </p:txBody>
      </p:sp>
      <p:sp>
        <p:nvSpPr>
          <p:cNvPr id="18" name="Rectangle 17"/>
          <p:cNvSpPr/>
          <p:nvPr/>
        </p:nvSpPr>
        <p:spPr>
          <a:xfrm>
            <a:off x="2314572" y="3584421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/>
          <p:cNvSpPr txBox="1"/>
          <p:nvPr/>
        </p:nvSpPr>
        <p:spPr>
          <a:xfrm>
            <a:off x="674013" y="3943546"/>
            <a:ext cx="2154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No.Pendaftaran</a:t>
            </a:r>
            <a:r>
              <a:rPr lang="en-US" sz="1200" dirty="0" smtClean="0"/>
              <a:t> </a:t>
            </a:r>
            <a:r>
              <a:rPr lang="en-US" sz="1200" dirty="0" err="1" smtClean="0"/>
              <a:t>Cukai</a:t>
            </a:r>
            <a:r>
              <a:rPr lang="en-US" sz="1200" dirty="0" smtClean="0"/>
              <a:t> </a:t>
            </a:r>
            <a:r>
              <a:rPr lang="en-US" sz="1200" dirty="0" err="1" smtClean="0"/>
              <a:t>Jualan</a:t>
            </a:r>
            <a:r>
              <a:rPr lang="en-US" sz="1200" dirty="0" smtClean="0"/>
              <a:t>(</a:t>
            </a:r>
            <a:r>
              <a:rPr lang="en-US" sz="1200" dirty="0" err="1" smtClean="0"/>
              <a:t>jika</a:t>
            </a:r>
            <a:r>
              <a:rPr lang="en-US" sz="1200" dirty="0" smtClean="0"/>
              <a:t> </a:t>
            </a:r>
            <a:r>
              <a:rPr lang="en-US" sz="1200" dirty="0" err="1" smtClean="0"/>
              <a:t>berkenaan</a:t>
            </a:r>
            <a:r>
              <a:rPr lang="en-US" sz="1200" dirty="0" smtClean="0"/>
              <a:t>):</a:t>
            </a:r>
            <a:endParaRPr lang="en-MY" sz="1200" dirty="0"/>
          </a:p>
        </p:txBody>
      </p:sp>
      <p:sp>
        <p:nvSpPr>
          <p:cNvPr id="20" name="Rectangle 19"/>
          <p:cNvSpPr/>
          <p:nvPr/>
        </p:nvSpPr>
        <p:spPr>
          <a:xfrm>
            <a:off x="2400297" y="401684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TextBox 20"/>
          <p:cNvSpPr txBox="1"/>
          <p:nvPr/>
        </p:nvSpPr>
        <p:spPr>
          <a:xfrm>
            <a:off x="674013" y="4532103"/>
            <a:ext cx="1945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r>
              <a:rPr lang="en-US" sz="1200" dirty="0" err="1" smtClean="0"/>
              <a:t>permohonan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2" name="Rectangle 21"/>
          <p:cNvSpPr/>
          <p:nvPr/>
        </p:nvSpPr>
        <p:spPr>
          <a:xfrm>
            <a:off x="2314571" y="454643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/>
          <p:cNvSpPr txBox="1"/>
          <p:nvPr/>
        </p:nvSpPr>
        <p:spPr>
          <a:xfrm>
            <a:off x="664483" y="4986935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No.Kelulusan</a:t>
            </a:r>
            <a:r>
              <a:rPr lang="en-US" sz="1200" dirty="0" smtClean="0"/>
              <a:t>(PDA2,JKDM </a:t>
            </a:r>
            <a:r>
              <a:rPr lang="en-US" sz="1200" dirty="0" err="1" smtClean="0"/>
              <a:t>dll</a:t>
            </a:r>
            <a:r>
              <a:rPr lang="en-US" sz="1200" dirty="0" smtClean="0"/>
              <a:t>):</a:t>
            </a:r>
            <a:endParaRPr lang="en-MY" sz="1200" dirty="0"/>
          </a:p>
        </p:txBody>
      </p:sp>
      <p:sp>
        <p:nvSpPr>
          <p:cNvPr id="24" name="Rectangle 23"/>
          <p:cNvSpPr/>
          <p:nvPr/>
        </p:nvSpPr>
        <p:spPr>
          <a:xfrm>
            <a:off x="2890833" y="5013548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/>
          <p:cNvSpPr txBox="1"/>
          <p:nvPr/>
        </p:nvSpPr>
        <p:spPr>
          <a:xfrm>
            <a:off x="664482" y="5369703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No.Pesanan</a:t>
            </a:r>
            <a:r>
              <a:rPr lang="en-US" sz="1200" dirty="0" smtClean="0"/>
              <a:t> </a:t>
            </a:r>
            <a:r>
              <a:rPr lang="en-US" sz="1200" dirty="0" err="1" smtClean="0"/>
              <a:t>Belian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6" name="Rectangle 25"/>
          <p:cNvSpPr/>
          <p:nvPr/>
        </p:nvSpPr>
        <p:spPr>
          <a:xfrm>
            <a:off x="2314570" y="5412843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TextBox 26"/>
          <p:cNvSpPr txBox="1"/>
          <p:nvPr/>
        </p:nvSpPr>
        <p:spPr>
          <a:xfrm>
            <a:off x="664481" y="5635242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Alamat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49511" t="62611" r="7948" b="31661"/>
          <a:stretch/>
        </p:blipFill>
        <p:spPr>
          <a:xfrm>
            <a:off x="2221737" y="4522964"/>
            <a:ext cx="3900416" cy="2952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646694" y="5703708"/>
            <a:ext cx="3506331" cy="396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ounded Rectangle 1"/>
          <p:cNvSpPr/>
          <p:nvPr/>
        </p:nvSpPr>
        <p:spPr>
          <a:xfrm>
            <a:off x="741773" y="1019175"/>
            <a:ext cx="3782602" cy="2440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A: MAKLUMAT PEMOHON</a:t>
            </a:r>
            <a:endParaRPr lang="en-MY" sz="14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2"/>
          <a:srcRect l="49511" t="68894" r="7948" b="20943"/>
          <a:stretch/>
        </p:blipFill>
        <p:spPr>
          <a:xfrm>
            <a:off x="664481" y="6168249"/>
            <a:ext cx="3955144" cy="56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5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4016" y="439927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Pemohon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8" name="Rectangle 7"/>
          <p:cNvSpPr/>
          <p:nvPr/>
        </p:nvSpPr>
        <p:spPr>
          <a:xfrm>
            <a:off x="2230058" y="493006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/>
          <p:cNvSpPr txBox="1"/>
          <p:nvPr/>
        </p:nvSpPr>
        <p:spPr>
          <a:xfrm>
            <a:off x="625180" y="714822"/>
            <a:ext cx="1557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No,KP</a:t>
            </a:r>
            <a:r>
              <a:rPr lang="en-US" sz="1200" dirty="0" smtClean="0"/>
              <a:t> </a:t>
            </a:r>
            <a:r>
              <a:rPr lang="en-US" sz="1200" dirty="0" err="1" smtClean="0"/>
              <a:t>Pemohon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0" name="Rectangle 9"/>
          <p:cNvSpPr/>
          <p:nvPr/>
        </p:nvSpPr>
        <p:spPr>
          <a:xfrm>
            <a:off x="2230057" y="806587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2230056" y="1077698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/>
          <p:cNvSpPr txBox="1"/>
          <p:nvPr/>
        </p:nvSpPr>
        <p:spPr>
          <a:xfrm>
            <a:off x="709838" y="962771"/>
            <a:ext cx="1459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Jawatan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64481" y="1715754"/>
            <a:ext cx="17262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Firma/</a:t>
            </a:r>
            <a:r>
              <a:rPr lang="en-US" sz="1200" dirty="0" err="1" smtClean="0"/>
              <a:t>syarikat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4" name="Rectangle 13"/>
          <p:cNvSpPr/>
          <p:nvPr/>
        </p:nvSpPr>
        <p:spPr>
          <a:xfrm>
            <a:off x="2353547" y="177474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719370" y="2001594"/>
            <a:ext cx="1640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Alamat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6" name="Rectangle 15"/>
          <p:cNvSpPr/>
          <p:nvPr/>
        </p:nvSpPr>
        <p:spPr>
          <a:xfrm>
            <a:off x="2353546" y="1998811"/>
            <a:ext cx="5295029" cy="2733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/>
          <p:cNvSpPr/>
          <p:nvPr/>
        </p:nvSpPr>
        <p:spPr>
          <a:xfrm>
            <a:off x="2084301" y="2774155"/>
            <a:ext cx="2562225" cy="1978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TextBox 18"/>
          <p:cNvSpPr txBox="1"/>
          <p:nvPr/>
        </p:nvSpPr>
        <p:spPr>
          <a:xfrm>
            <a:off x="912696" y="3242033"/>
            <a:ext cx="929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Unit</a:t>
            </a:r>
            <a:endParaRPr lang="en-MY" sz="1200" dirty="0"/>
          </a:p>
        </p:txBody>
      </p:sp>
      <p:sp>
        <p:nvSpPr>
          <p:cNvPr id="20" name="Rectangle 19"/>
          <p:cNvSpPr/>
          <p:nvPr/>
        </p:nvSpPr>
        <p:spPr>
          <a:xfrm>
            <a:off x="2095499" y="305539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Rectangle 21"/>
          <p:cNvSpPr/>
          <p:nvPr/>
        </p:nvSpPr>
        <p:spPr>
          <a:xfrm>
            <a:off x="2084299" y="3657937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/>
          <p:cNvSpPr txBox="1"/>
          <p:nvPr/>
        </p:nvSpPr>
        <p:spPr>
          <a:xfrm>
            <a:off x="793069" y="4157484"/>
            <a:ext cx="116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err="1" smtClean="0"/>
              <a:t>Nilai</a:t>
            </a:r>
            <a:r>
              <a:rPr lang="en-US" sz="1200" dirty="0" smtClean="0"/>
              <a:t> (RM):</a:t>
            </a:r>
            <a:endParaRPr lang="en-MY" sz="1200" dirty="0"/>
          </a:p>
        </p:txBody>
      </p:sp>
      <p:sp>
        <p:nvSpPr>
          <p:cNvPr id="24" name="Rectangle 23"/>
          <p:cNvSpPr/>
          <p:nvPr/>
        </p:nvSpPr>
        <p:spPr>
          <a:xfrm>
            <a:off x="2077589" y="4310872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5" name="TextBox 24"/>
          <p:cNvSpPr txBox="1"/>
          <p:nvPr/>
        </p:nvSpPr>
        <p:spPr>
          <a:xfrm>
            <a:off x="744194" y="4501776"/>
            <a:ext cx="12668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Kawasan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6" name="Rectangle 25"/>
          <p:cNvSpPr/>
          <p:nvPr/>
        </p:nvSpPr>
        <p:spPr>
          <a:xfrm>
            <a:off x="2084298" y="4596094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7" name="TextBox 26"/>
          <p:cNvSpPr txBox="1"/>
          <p:nvPr/>
        </p:nvSpPr>
        <p:spPr>
          <a:xfrm>
            <a:off x="633001" y="5494637"/>
            <a:ext cx="2659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Saya</a:t>
            </a:r>
            <a:r>
              <a:rPr lang="en-US" sz="1200" dirty="0" smtClean="0"/>
              <a:t> </a:t>
            </a:r>
            <a:endParaRPr lang="en-MY" sz="1200" dirty="0"/>
          </a:p>
        </p:txBody>
      </p:sp>
      <p:sp>
        <p:nvSpPr>
          <p:cNvPr id="2" name="Rounded Rectangle 1"/>
          <p:cNvSpPr/>
          <p:nvPr/>
        </p:nvSpPr>
        <p:spPr>
          <a:xfrm>
            <a:off x="674013" y="107334"/>
            <a:ext cx="8082551" cy="3059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B :MAKLUMAT ORANG YANG AKAN MENANDATANGANI SIJIL PENGECUALIAN</a:t>
            </a:r>
            <a:endParaRPr lang="en-MY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664481" y="1288897"/>
            <a:ext cx="3929652" cy="3932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C : MAKLUMAT PEMBEKAL </a:t>
            </a:r>
            <a:endParaRPr lang="en-MY" sz="1400" dirty="0"/>
          </a:p>
        </p:txBody>
      </p:sp>
      <p:sp>
        <p:nvSpPr>
          <p:cNvPr id="31" name="Rounded Rectangle 30"/>
          <p:cNvSpPr/>
          <p:nvPr/>
        </p:nvSpPr>
        <p:spPr>
          <a:xfrm>
            <a:off x="674739" y="2343627"/>
            <a:ext cx="3929652" cy="3126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BAHAGIAN D : PERIHAL BARANG-BARANG</a:t>
            </a:r>
            <a:endParaRPr lang="en-MY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761694" y="2704612"/>
            <a:ext cx="1257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No </a:t>
            </a:r>
            <a:r>
              <a:rPr lang="en-US" sz="1200" dirty="0" err="1" smtClean="0"/>
              <a:t>Kod</a:t>
            </a:r>
            <a:r>
              <a:rPr lang="en-US" sz="1200" dirty="0" smtClean="0"/>
              <a:t> </a:t>
            </a:r>
            <a:r>
              <a:rPr lang="en-US" sz="1200" dirty="0" err="1" smtClean="0"/>
              <a:t>Tarif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725296" y="3000036"/>
            <a:ext cx="1428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Perihal</a:t>
            </a:r>
            <a:r>
              <a:rPr lang="en-US" sz="1200" dirty="0" smtClean="0"/>
              <a:t> </a:t>
            </a:r>
            <a:r>
              <a:rPr lang="en-US" sz="1200" dirty="0" err="1" smtClean="0"/>
              <a:t>Barangan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34" name="Rectangle 33"/>
          <p:cNvSpPr/>
          <p:nvPr/>
        </p:nvSpPr>
        <p:spPr>
          <a:xfrm>
            <a:off x="2084300" y="3310965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5" name="TextBox 34"/>
          <p:cNvSpPr txBox="1"/>
          <p:nvPr/>
        </p:nvSpPr>
        <p:spPr>
          <a:xfrm>
            <a:off x="793069" y="3507961"/>
            <a:ext cx="929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Deskripsi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835393" y="3868291"/>
            <a:ext cx="9298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Kuantiti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37" name="Rectangle 36"/>
          <p:cNvSpPr/>
          <p:nvPr/>
        </p:nvSpPr>
        <p:spPr>
          <a:xfrm>
            <a:off x="2084299" y="3981259"/>
            <a:ext cx="2562225" cy="19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8" name="Rectangle 37"/>
          <p:cNvSpPr/>
          <p:nvPr/>
        </p:nvSpPr>
        <p:spPr>
          <a:xfrm>
            <a:off x="1118721" y="5541103"/>
            <a:ext cx="3587042" cy="2074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9" name="TextBox 38"/>
          <p:cNvSpPr txBox="1"/>
          <p:nvPr/>
        </p:nvSpPr>
        <p:spPr>
          <a:xfrm>
            <a:off x="4715288" y="5494636"/>
            <a:ext cx="38564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m</a:t>
            </a:r>
            <a:r>
              <a:rPr lang="en-US" sz="1200" dirty="0" err="1" smtClean="0"/>
              <a:t>emohon</a:t>
            </a:r>
            <a:r>
              <a:rPr lang="en-US" sz="1200" dirty="0" smtClean="0"/>
              <a:t> </a:t>
            </a:r>
            <a:r>
              <a:rPr lang="en-US" sz="1200" dirty="0" err="1" smtClean="0"/>
              <a:t>untuk</a:t>
            </a:r>
            <a:r>
              <a:rPr lang="en-US" sz="1200" dirty="0" smtClean="0"/>
              <a:t> </a:t>
            </a:r>
            <a:r>
              <a:rPr lang="en-US" sz="1200" dirty="0" err="1" smtClean="0"/>
              <a:t>membeli</a:t>
            </a:r>
            <a:r>
              <a:rPr lang="en-US" sz="1200" dirty="0" smtClean="0"/>
              <a:t> </a:t>
            </a:r>
            <a:r>
              <a:rPr lang="en-US" sz="1200" dirty="0" err="1" smtClean="0"/>
              <a:t>barang-barang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 </a:t>
            </a:r>
            <a:endParaRPr lang="en-MY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625180" y="5811769"/>
            <a:ext cx="7317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Pengecualian</a:t>
            </a:r>
            <a:r>
              <a:rPr lang="en-US" sz="1200" dirty="0" smtClean="0"/>
              <a:t> </a:t>
            </a:r>
            <a:r>
              <a:rPr lang="en-US" sz="1200" dirty="0" err="1" smtClean="0"/>
              <a:t>dituntut</a:t>
            </a:r>
            <a:r>
              <a:rPr lang="en-US" sz="1200" dirty="0" smtClean="0"/>
              <a:t> 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58A </a:t>
            </a:r>
            <a:r>
              <a:rPr lang="en-US" sz="1200" dirty="0" err="1" smtClean="0"/>
              <a:t>Jadual</a:t>
            </a:r>
            <a:r>
              <a:rPr lang="en-US" sz="1200" dirty="0" smtClean="0"/>
              <a:t> </a:t>
            </a:r>
            <a:r>
              <a:rPr lang="en-US" sz="1200" dirty="0" err="1" smtClean="0"/>
              <a:t>A,Perintah</a:t>
            </a:r>
            <a:r>
              <a:rPr lang="en-US" sz="1200" dirty="0" smtClean="0"/>
              <a:t> </a:t>
            </a:r>
            <a:r>
              <a:rPr lang="en-US" sz="1200" dirty="0" err="1" smtClean="0"/>
              <a:t>Cukai</a:t>
            </a:r>
            <a:r>
              <a:rPr lang="en-US" sz="1200" dirty="0" smtClean="0"/>
              <a:t> </a:t>
            </a:r>
            <a:r>
              <a:rPr lang="en-US" sz="1200" dirty="0" err="1" smtClean="0"/>
              <a:t>Jualan</a:t>
            </a:r>
            <a:r>
              <a:rPr lang="en-US" sz="1200" dirty="0" smtClean="0"/>
              <a:t> (Orang Yang </a:t>
            </a:r>
            <a:r>
              <a:rPr lang="en-US" sz="1200" dirty="0" err="1" smtClean="0"/>
              <a:t>Dikecualikan</a:t>
            </a:r>
            <a:r>
              <a:rPr lang="en-US" sz="1200" dirty="0" smtClean="0"/>
              <a:t> </a:t>
            </a:r>
            <a:r>
              <a:rPr lang="en-US" sz="1200" dirty="0" err="1" smtClean="0"/>
              <a:t>Daripada</a:t>
            </a:r>
            <a:r>
              <a:rPr lang="en-US" sz="1200" dirty="0" smtClean="0"/>
              <a:t> </a:t>
            </a:r>
            <a:r>
              <a:rPr lang="en-US" sz="1200" dirty="0" err="1" smtClean="0"/>
              <a:t>Cukai</a:t>
            </a:r>
            <a:r>
              <a:rPr lang="en-US" sz="1200" dirty="0" smtClean="0"/>
              <a:t> </a:t>
            </a:r>
            <a:r>
              <a:rPr lang="en-US" sz="1200" dirty="0" err="1" smtClean="0"/>
              <a:t>Jualan</a:t>
            </a:r>
            <a:r>
              <a:rPr lang="en-US" sz="1200" dirty="0" smtClean="0"/>
              <a:t>)2018 </a:t>
            </a:r>
            <a:r>
              <a:rPr lang="en-US" sz="1200" dirty="0" err="1" smtClean="0"/>
              <a:t>tertakluk</a:t>
            </a:r>
            <a:r>
              <a:rPr lang="en-US" sz="1200" dirty="0" smtClean="0"/>
              <a:t> </a:t>
            </a:r>
            <a:r>
              <a:rPr lang="en-US" sz="1200" dirty="0" err="1" smtClean="0"/>
              <a:t>kepada</a:t>
            </a:r>
            <a:r>
              <a:rPr lang="en-US" sz="1200" dirty="0" smtClean="0"/>
              <a:t> </a:t>
            </a:r>
            <a:r>
              <a:rPr lang="en-US" sz="1200" dirty="0" err="1" smtClean="0"/>
              <a:t>syarat-syarat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ditetapkan</a:t>
            </a:r>
            <a:r>
              <a:rPr lang="en-US" sz="1200" dirty="0" smtClean="0"/>
              <a:t> .</a:t>
            </a:r>
            <a:r>
              <a:rPr lang="en-US" sz="1200" dirty="0" err="1" smtClean="0"/>
              <a:t>Saya</a:t>
            </a:r>
            <a:r>
              <a:rPr lang="en-US" sz="1200" dirty="0" smtClean="0"/>
              <a:t> </a:t>
            </a:r>
            <a:r>
              <a:rPr lang="en-US" sz="1200" dirty="0" err="1" smtClean="0"/>
              <a:t>mengaku</a:t>
            </a:r>
            <a:r>
              <a:rPr lang="en-US" sz="1200" dirty="0" smtClean="0"/>
              <a:t> </a:t>
            </a:r>
            <a:r>
              <a:rPr lang="en-US" sz="1200" dirty="0" err="1" smtClean="0"/>
              <a:t>semua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yang </a:t>
            </a:r>
            <a:r>
              <a:rPr lang="en-US" sz="1200" dirty="0" err="1" smtClean="0"/>
              <a:t>diberikan</a:t>
            </a:r>
            <a:r>
              <a:rPr lang="en-US" sz="1200" dirty="0" smtClean="0"/>
              <a:t> </a:t>
            </a:r>
            <a:r>
              <a:rPr lang="en-US" sz="1200" dirty="0" err="1" smtClean="0"/>
              <a:t>adalah</a:t>
            </a:r>
            <a:r>
              <a:rPr lang="en-US" sz="1200" dirty="0" smtClean="0"/>
              <a:t> </a:t>
            </a:r>
            <a:r>
              <a:rPr lang="en-US" sz="1200" dirty="0" err="1" smtClean="0"/>
              <a:t>betul</a:t>
            </a:r>
            <a:r>
              <a:rPr lang="en-US" sz="1200" dirty="0" smtClean="0"/>
              <a:t> </a:t>
            </a:r>
            <a:r>
              <a:rPr lang="en-US" sz="1200" dirty="0" err="1" smtClean="0"/>
              <a:t>dan</a:t>
            </a:r>
            <a:r>
              <a:rPr lang="en-US" sz="1200" dirty="0" smtClean="0"/>
              <a:t> </a:t>
            </a:r>
            <a:r>
              <a:rPr lang="en-US" sz="1200" dirty="0" err="1" smtClean="0"/>
              <a:t>benar</a:t>
            </a:r>
            <a:r>
              <a:rPr lang="en-US" sz="1200" dirty="0" smtClean="0"/>
              <a:t>.</a:t>
            </a:r>
            <a:endParaRPr lang="en-MY" sz="1200" dirty="0"/>
          </a:p>
        </p:txBody>
      </p:sp>
      <p:sp>
        <p:nvSpPr>
          <p:cNvPr id="41" name="Rectangle 40"/>
          <p:cNvSpPr/>
          <p:nvPr/>
        </p:nvSpPr>
        <p:spPr>
          <a:xfrm>
            <a:off x="625180" y="4854890"/>
            <a:ext cx="4832645" cy="391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Muat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Naik</a:t>
            </a:r>
            <a:r>
              <a:rPr lang="en-US" sz="1200" dirty="0" smtClean="0">
                <a:solidFill>
                  <a:schemeClr val="tx1"/>
                </a:solidFill>
              </a:rPr>
              <a:t> Fail </a:t>
            </a:r>
            <a:r>
              <a:rPr lang="en-US" sz="1200" dirty="0" err="1" smtClean="0">
                <a:solidFill>
                  <a:schemeClr val="tx1"/>
                </a:solidFill>
              </a:rPr>
              <a:t>Berkaitan</a:t>
            </a:r>
            <a:r>
              <a:rPr lang="en-US" sz="1200" dirty="0" smtClean="0">
                <a:solidFill>
                  <a:schemeClr val="tx1"/>
                </a:solidFill>
              </a:rPr>
              <a:t>(SSM, MAA, PDA2, </a:t>
            </a:r>
            <a:r>
              <a:rPr lang="en-US" sz="1200" dirty="0" err="1" smtClean="0">
                <a:solidFill>
                  <a:schemeClr val="tx1"/>
                </a:solidFill>
              </a:rPr>
              <a:t>Surat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kelulusan</a:t>
            </a:r>
            <a:r>
              <a:rPr lang="en-US" sz="1200" dirty="0" smtClean="0">
                <a:solidFill>
                  <a:schemeClr val="tx1"/>
                </a:solidFill>
              </a:rPr>
              <a:t> ship chandler</a:t>
            </a:r>
            <a:endParaRPr lang="en-MY" sz="1200" dirty="0">
              <a:solidFill>
                <a:schemeClr val="tx1"/>
              </a:solidFill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2"/>
          <a:srcRect l="7143" t="85339" r="7948" b="8194"/>
          <a:stretch/>
        </p:blipFill>
        <p:spPr>
          <a:xfrm>
            <a:off x="564487" y="5201671"/>
            <a:ext cx="778499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87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4015" y="766926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Ulasan</a:t>
            </a:r>
            <a:r>
              <a:rPr lang="en-US" sz="1200" dirty="0" smtClean="0"/>
              <a:t> </a:t>
            </a:r>
            <a:r>
              <a:rPr lang="en-US" sz="1200" dirty="0" err="1" smtClean="0"/>
              <a:t>Pegawai</a:t>
            </a:r>
            <a:r>
              <a:rPr lang="en-US" sz="1200" dirty="0" smtClean="0"/>
              <a:t> </a:t>
            </a:r>
            <a:r>
              <a:rPr lang="en-US" sz="1200" dirty="0" err="1" smtClean="0"/>
              <a:t>Kanan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5" name="Rectangle 4"/>
          <p:cNvSpPr/>
          <p:nvPr/>
        </p:nvSpPr>
        <p:spPr>
          <a:xfrm>
            <a:off x="784548" y="1043926"/>
            <a:ext cx="3566388" cy="5437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ounded Rectangle 5"/>
          <p:cNvSpPr/>
          <p:nvPr/>
        </p:nvSpPr>
        <p:spPr>
          <a:xfrm>
            <a:off x="674016" y="264726"/>
            <a:ext cx="2221584" cy="3126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ULASAN JKDM</a:t>
            </a:r>
            <a:endParaRPr lang="en-MY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739717" y="1666643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Pegawai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8" name="Rectangle 7"/>
          <p:cNvSpPr/>
          <p:nvPr/>
        </p:nvSpPr>
        <p:spPr>
          <a:xfrm>
            <a:off x="1881493" y="1708715"/>
            <a:ext cx="3566388" cy="192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TextBox 8"/>
          <p:cNvSpPr txBox="1"/>
          <p:nvPr/>
        </p:nvSpPr>
        <p:spPr>
          <a:xfrm>
            <a:off x="739717" y="1988639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Tarikh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0" name="Rectangle 9"/>
          <p:cNvSpPr/>
          <p:nvPr/>
        </p:nvSpPr>
        <p:spPr>
          <a:xfrm>
            <a:off x="1400847" y="1980471"/>
            <a:ext cx="1382547" cy="2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Dd</a:t>
            </a:r>
            <a:r>
              <a:rPr lang="en-US" sz="1200" dirty="0" smtClean="0">
                <a:solidFill>
                  <a:schemeClr val="tx1"/>
                </a:solidFill>
              </a:rPr>
              <a:t>/mm/</a:t>
            </a:r>
            <a:r>
              <a:rPr lang="en-US" sz="1200" dirty="0" err="1" smtClean="0">
                <a:solidFill>
                  <a:schemeClr val="tx1"/>
                </a:solidFill>
              </a:rPr>
              <a:t>yy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302" y="2427860"/>
            <a:ext cx="24177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Ulasan</a:t>
            </a:r>
            <a:r>
              <a:rPr lang="en-US" sz="1200" dirty="0" smtClean="0"/>
              <a:t> </a:t>
            </a:r>
            <a:r>
              <a:rPr lang="en-US" sz="1200" dirty="0" err="1" smtClean="0"/>
              <a:t>Ketua</a:t>
            </a:r>
            <a:r>
              <a:rPr lang="en-US" sz="1200" dirty="0" smtClean="0"/>
              <a:t> </a:t>
            </a:r>
            <a:r>
              <a:rPr lang="en-US" sz="1200" dirty="0" err="1" smtClean="0"/>
              <a:t>Bahagian</a:t>
            </a:r>
            <a:r>
              <a:rPr lang="en-US" sz="1200" dirty="0" smtClean="0"/>
              <a:t>/</a:t>
            </a:r>
            <a:r>
              <a:rPr lang="en-US" sz="1200" dirty="0" err="1" smtClean="0"/>
              <a:t>Cawangan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3" name="Rectangle 12"/>
          <p:cNvSpPr/>
          <p:nvPr/>
        </p:nvSpPr>
        <p:spPr>
          <a:xfrm>
            <a:off x="784548" y="2799648"/>
            <a:ext cx="3566388" cy="5437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TextBox 13"/>
          <p:cNvSpPr txBox="1"/>
          <p:nvPr/>
        </p:nvSpPr>
        <p:spPr>
          <a:xfrm>
            <a:off x="717302" y="3372574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Pegawai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5" name="Rectangle 14"/>
          <p:cNvSpPr/>
          <p:nvPr/>
        </p:nvSpPr>
        <p:spPr>
          <a:xfrm>
            <a:off x="1790383" y="3405473"/>
            <a:ext cx="3566388" cy="192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TextBox 15"/>
          <p:cNvSpPr txBox="1"/>
          <p:nvPr/>
        </p:nvSpPr>
        <p:spPr>
          <a:xfrm>
            <a:off x="739717" y="3618614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Tarikh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17" name="Rectangle 16"/>
          <p:cNvSpPr/>
          <p:nvPr/>
        </p:nvSpPr>
        <p:spPr>
          <a:xfrm>
            <a:off x="1393573" y="3669229"/>
            <a:ext cx="1382547" cy="2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Dd</a:t>
            </a:r>
            <a:r>
              <a:rPr lang="en-US" sz="1200" dirty="0" smtClean="0">
                <a:solidFill>
                  <a:schemeClr val="tx1"/>
                </a:solidFill>
              </a:rPr>
              <a:t>/mm/</a:t>
            </a:r>
            <a:r>
              <a:rPr lang="en-US" sz="1200" dirty="0" err="1" smtClean="0">
                <a:solidFill>
                  <a:schemeClr val="tx1"/>
                </a:solidFill>
              </a:rPr>
              <a:t>yy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7301" y="4076817"/>
            <a:ext cx="2749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Keputusan</a:t>
            </a:r>
            <a:r>
              <a:rPr lang="en-US" sz="1200" dirty="0" smtClean="0"/>
              <a:t> </a:t>
            </a:r>
            <a:r>
              <a:rPr lang="en-US" sz="1200" dirty="0" err="1" smtClean="0"/>
              <a:t>Pengarah</a:t>
            </a:r>
            <a:r>
              <a:rPr lang="en-US" sz="1200" dirty="0" smtClean="0"/>
              <a:t> </a:t>
            </a:r>
            <a:r>
              <a:rPr lang="en-US" sz="1200" dirty="0" err="1"/>
              <a:t>K</a:t>
            </a:r>
            <a:r>
              <a:rPr lang="en-US" sz="1200" dirty="0" err="1" smtClean="0"/>
              <a:t>astam</a:t>
            </a:r>
            <a:r>
              <a:rPr lang="en-US" sz="1200" dirty="0" smtClean="0"/>
              <a:t> </a:t>
            </a:r>
            <a:r>
              <a:rPr lang="en-US" sz="1200" dirty="0" err="1" smtClean="0"/>
              <a:t>Negeri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19" name="Rectangle 18"/>
          <p:cNvSpPr/>
          <p:nvPr/>
        </p:nvSpPr>
        <p:spPr>
          <a:xfrm>
            <a:off x="739717" y="4397980"/>
            <a:ext cx="3566388" cy="3173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tx1"/>
                </a:solidFill>
              </a:rPr>
              <a:t>Diluluskan</a:t>
            </a:r>
            <a:r>
              <a:rPr lang="en-US" sz="1400" dirty="0" smtClean="0">
                <a:solidFill>
                  <a:schemeClr val="tx1"/>
                </a:solidFill>
              </a:rPr>
              <a:t>/ </a:t>
            </a:r>
            <a:r>
              <a:rPr lang="en-US" sz="1400" dirty="0" err="1" smtClean="0">
                <a:solidFill>
                  <a:schemeClr val="tx1"/>
                </a:solidFill>
              </a:rPr>
              <a:t>Tidak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</a:rPr>
              <a:t>Diluluskan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4886" y="4744532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Nama</a:t>
            </a:r>
            <a:r>
              <a:rPr lang="en-US" sz="1200" dirty="0" smtClean="0"/>
              <a:t> </a:t>
            </a:r>
            <a:r>
              <a:rPr lang="en-US" sz="1200" dirty="0" err="1" smtClean="0"/>
              <a:t>Pegawai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1" name="Rectangle 20"/>
          <p:cNvSpPr/>
          <p:nvPr/>
        </p:nvSpPr>
        <p:spPr>
          <a:xfrm>
            <a:off x="1780334" y="4782395"/>
            <a:ext cx="3566388" cy="192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/>
          <p:cNvSpPr txBox="1"/>
          <p:nvPr/>
        </p:nvSpPr>
        <p:spPr>
          <a:xfrm>
            <a:off x="694885" y="5880112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Muat</a:t>
            </a:r>
            <a:r>
              <a:rPr lang="en-US" sz="1200" dirty="0" smtClean="0"/>
              <a:t> </a:t>
            </a:r>
            <a:r>
              <a:rPr lang="en-US" sz="1200" dirty="0" err="1" smtClean="0"/>
              <a:t>Naik</a:t>
            </a:r>
            <a:r>
              <a:rPr lang="en-US" sz="1200" dirty="0" smtClean="0"/>
              <a:t> </a:t>
            </a:r>
            <a:r>
              <a:rPr lang="en-US" sz="1200" dirty="0" err="1" smtClean="0"/>
              <a:t>surat</a:t>
            </a:r>
            <a:r>
              <a:rPr lang="en-US" sz="1200" dirty="0" smtClean="0"/>
              <a:t>:</a:t>
            </a:r>
            <a:endParaRPr lang="en-MY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74014" y="4961697"/>
            <a:ext cx="1828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Tarikh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25" name="Rectangle 24"/>
          <p:cNvSpPr/>
          <p:nvPr/>
        </p:nvSpPr>
        <p:spPr>
          <a:xfrm>
            <a:off x="1317396" y="5018146"/>
            <a:ext cx="1382547" cy="246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Dd</a:t>
            </a:r>
            <a:r>
              <a:rPr lang="en-US" sz="1200" dirty="0" smtClean="0">
                <a:solidFill>
                  <a:schemeClr val="tx1"/>
                </a:solidFill>
              </a:rPr>
              <a:t>/mm/</a:t>
            </a:r>
            <a:r>
              <a:rPr lang="en-US" sz="1200" dirty="0" err="1" smtClean="0">
                <a:solidFill>
                  <a:schemeClr val="tx1"/>
                </a:solidFill>
              </a:rPr>
              <a:t>yy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20981" y="6407486"/>
            <a:ext cx="1187688" cy="2817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Hantar</a:t>
            </a:r>
            <a:endParaRPr lang="en-MY" dirty="0"/>
          </a:p>
        </p:txBody>
      </p:sp>
      <p:sp>
        <p:nvSpPr>
          <p:cNvPr id="27" name="Rectangle 26"/>
          <p:cNvSpPr/>
          <p:nvPr/>
        </p:nvSpPr>
        <p:spPr>
          <a:xfrm>
            <a:off x="2278992" y="6425392"/>
            <a:ext cx="1187688" cy="28179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</a:t>
            </a:r>
            <a:r>
              <a:rPr lang="en-US" dirty="0" err="1" smtClean="0"/>
              <a:t>embali</a:t>
            </a:r>
            <a:endParaRPr lang="en-MY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7143" t="85339" r="7948" b="8194"/>
          <a:stretch/>
        </p:blipFill>
        <p:spPr>
          <a:xfrm>
            <a:off x="600346" y="6092017"/>
            <a:ext cx="7784990" cy="333375"/>
          </a:xfrm>
          <a:prstGeom prst="rect">
            <a:avLst/>
          </a:prstGeom>
        </p:spPr>
      </p:pic>
      <p:sp>
        <p:nvSpPr>
          <p:cNvPr id="2" name="Right Brace 1"/>
          <p:cNvSpPr/>
          <p:nvPr/>
        </p:nvSpPr>
        <p:spPr>
          <a:xfrm>
            <a:off x="5822274" y="751028"/>
            <a:ext cx="1861457" cy="447177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/>
          <p:cNvSpPr txBox="1"/>
          <p:nvPr/>
        </p:nvSpPr>
        <p:spPr>
          <a:xfrm>
            <a:off x="7206343" y="2799648"/>
            <a:ext cx="1178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Diisi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pegawai</a:t>
            </a:r>
            <a:r>
              <a:rPr lang="en-US" dirty="0" smtClean="0"/>
              <a:t> JKDM</a:t>
            </a:r>
            <a:endParaRPr lang="en-MY" dirty="0"/>
          </a:p>
        </p:txBody>
      </p:sp>
      <p:sp>
        <p:nvSpPr>
          <p:cNvPr id="11" name="Right Arrow 10"/>
          <p:cNvSpPr/>
          <p:nvPr/>
        </p:nvSpPr>
        <p:spPr>
          <a:xfrm>
            <a:off x="462131" y="6513773"/>
            <a:ext cx="423766" cy="2177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3" name="TextBox 22"/>
          <p:cNvSpPr txBox="1"/>
          <p:nvPr/>
        </p:nvSpPr>
        <p:spPr>
          <a:xfrm>
            <a:off x="4492841" y="4280383"/>
            <a:ext cx="305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Dipaparkan</a:t>
            </a:r>
            <a:r>
              <a:rPr lang="en-US" dirty="0" smtClean="0"/>
              <a:t> di status</a:t>
            </a:r>
            <a:endParaRPr lang="en-MY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4026040" y="4442270"/>
            <a:ext cx="522514" cy="12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895600" y="5021531"/>
            <a:ext cx="305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Dipaparkan</a:t>
            </a:r>
            <a:r>
              <a:rPr lang="en-US" dirty="0" smtClean="0"/>
              <a:t> di </a:t>
            </a:r>
            <a:r>
              <a:rPr lang="en-US" dirty="0" err="1" smtClean="0"/>
              <a:t>tarikh</a:t>
            </a:r>
            <a:r>
              <a:rPr lang="en-US" dirty="0" smtClean="0"/>
              <a:t> </a:t>
            </a:r>
            <a:r>
              <a:rPr lang="en-US" dirty="0" err="1" smtClean="0"/>
              <a:t>diluluskan</a:t>
            </a:r>
            <a:endParaRPr lang="en-MY" dirty="0"/>
          </a:p>
        </p:txBody>
      </p:sp>
      <p:cxnSp>
        <p:nvCxnSpPr>
          <p:cNvPr id="32" name="Straight Arrow Connector 31"/>
          <p:cNvCxnSpPr>
            <a:stCxn id="31" idx="1"/>
          </p:cNvCxnSpPr>
          <p:nvPr/>
        </p:nvCxnSpPr>
        <p:spPr>
          <a:xfrm flipH="1" flipV="1">
            <a:off x="2436439" y="5173563"/>
            <a:ext cx="459161" cy="3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3795" y="5430141"/>
            <a:ext cx="893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No.Sijil</a:t>
            </a:r>
            <a:r>
              <a:rPr lang="en-US" sz="1200" dirty="0" smtClean="0"/>
              <a:t> :</a:t>
            </a:r>
            <a:endParaRPr lang="en-MY" sz="1200" dirty="0"/>
          </a:p>
        </p:txBody>
      </p:sp>
      <p:sp>
        <p:nvSpPr>
          <p:cNvPr id="35" name="Rectangle 34"/>
          <p:cNvSpPr/>
          <p:nvPr/>
        </p:nvSpPr>
        <p:spPr>
          <a:xfrm>
            <a:off x="1351892" y="5472213"/>
            <a:ext cx="3566388" cy="192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6" name="TextBox 35"/>
          <p:cNvSpPr txBox="1"/>
          <p:nvPr/>
        </p:nvSpPr>
        <p:spPr>
          <a:xfrm>
            <a:off x="746879" y="5614890"/>
            <a:ext cx="1134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r>
              <a:rPr lang="en-US" sz="1200" dirty="0" err="1" smtClean="0"/>
              <a:t>Tamat</a:t>
            </a:r>
            <a:r>
              <a:rPr lang="en-US" sz="1200" dirty="0" smtClean="0"/>
              <a:t>  :</a:t>
            </a:r>
            <a:endParaRPr lang="en-MY" sz="1200" dirty="0"/>
          </a:p>
        </p:txBody>
      </p:sp>
      <p:sp>
        <p:nvSpPr>
          <p:cNvPr id="37" name="Rectangle 36"/>
          <p:cNvSpPr/>
          <p:nvPr/>
        </p:nvSpPr>
        <p:spPr>
          <a:xfrm>
            <a:off x="1790383" y="5676402"/>
            <a:ext cx="3127897" cy="1734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8" name="TextBox 37"/>
          <p:cNvSpPr txBox="1"/>
          <p:nvPr/>
        </p:nvSpPr>
        <p:spPr>
          <a:xfrm>
            <a:off x="5326449" y="5415462"/>
            <a:ext cx="3305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Dipaparkan</a:t>
            </a:r>
            <a:r>
              <a:rPr lang="en-US" dirty="0" smtClean="0"/>
              <a:t> di no </a:t>
            </a:r>
            <a:r>
              <a:rPr lang="en-US" dirty="0" err="1" smtClean="0"/>
              <a:t>sijil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tarikh</a:t>
            </a:r>
            <a:r>
              <a:rPr lang="en-US" dirty="0" smtClean="0"/>
              <a:t> </a:t>
            </a:r>
            <a:r>
              <a:rPr lang="en-US" dirty="0" err="1" smtClean="0"/>
              <a:t>tamat</a:t>
            </a:r>
            <a:endParaRPr lang="en-MY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4918280" y="5673349"/>
            <a:ext cx="459161" cy="3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4353816"/>
            <a:ext cx="89916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98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42371"/>
            <a:ext cx="8594650" cy="4832131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5" name="Rectangle 4"/>
          <p:cNvSpPr/>
          <p:nvPr/>
        </p:nvSpPr>
        <p:spPr>
          <a:xfrm>
            <a:off x="2390085" y="1913435"/>
            <a:ext cx="3101687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Pengecualian</a:t>
            </a:r>
            <a:r>
              <a:rPr lang="en-US" dirty="0" smtClean="0"/>
              <a:t> </a:t>
            </a:r>
            <a:r>
              <a:rPr lang="en-US" dirty="0" err="1" smtClean="0"/>
              <a:t>Butiran</a:t>
            </a:r>
            <a:r>
              <a:rPr lang="en-US" dirty="0" smtClean="0"/>
              <a:t> 58A</a:t>
            </a:r>
            <a:endParaRPr lang="en-MY" dirty="0"/>
          </a:p>
        </p:txBody>
      </p:sp>
      <p:sp>
        <p:nvSpPr>
          <p:cNvPr id="6" name="TextBox 5"/>
          <p:cNvSpPr txBox="1"/>
          <p:nvPr/>
        </p:nvSpPr>
        <p:spPr>
          <a:xfrm>
            <a:off x="1732502" y="2228596"/>
            <a:ext cx="345244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Kawasan</a:t>
            </a:r>
            <a:r>
              <a:rPr lang="en-US" sz="1200" dirty="0" smtClean="0"/>
              <a:t>/Status/No </a:t>
            </a:r>
            <a:r>
              <a:rPr lang="en-US" sz="1200" dirty="0" err="1" smtClean="0"/>
              <a:t>Sijil</a:t>
            </a:r>
            <a:r>
              <a:rPr lang="en-US" sz="1200" dirty="0" smtClean="0"/>
              <a:t>/</a:t>
            </a:r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endParaRPr lang="en-MY" sz="1200" dirty="0"/>
          </a:p>
        </p:txBody>
      </p:sp>
      <p:sp>
        <p:nvSpPr>
          <p:cNvPr id="15" name="Rectangle 14"/>
          <p:cNvSpPr/>
          <p:nvPr/>
        </p:nvSpPr>
        <p:spPr>
          <a:xfrm>
            <a:off x="-93473" y="1540701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JKDM</a:t>
            </a:r>
            <a:endParaRPr lang="en-MY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8141346" y="2543949"/>
            <a:ext cx="894303" cy="3350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semak</a:t>
            </a:r>
            <a:endParaRPr lang="en-MY" sz="1600" dirty="0"/>
          </a:p>
        </p:txBody>
      </p:sp>
      <p:sp>
        <p:nvSpPr>
          <p:cNvPr id="24" name="Rectangle 23"/>
          <p:cNvSpPr/>
          <p:nvPr/>
        </p:nvSpPr>
        <p:spPr>
          <a:xfrm>
            <a:off x="5858189" y="3637503"/>
            <a:ext cx="2260879" cy="743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Diisi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Kastam</a:t>
            </a:r>
            <a:endParaRPr lang="en-MY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" y="2588362"/>
            <a:ext cx="8141346" cy="34256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61468" y="2588362"/>
            <a:ext cx="3657599" cy="335079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ounded Rectangle 25"/>
          <p:cNvSpPr/>
          <p:nvPr/>
        </p:nvSpPr>
        <p:spPr>
          <a:xfrm>
            <a:off x="7409204" y="2755901"/>
            <a:ext cx="695191" cy="3252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pdf</a:t>
            </a:r>
            <a:endParaRPr lang="en-MY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6996967" y="2905617"/>
            <a:ext cx="30145" cy="9073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527894" y="1571540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7" name="Rectangle 16"/>
          <p:cNvSpPr/>
          <p:nvPr/>
        </p:nvSpPr>
        <p:spPr>
          <a:xfrm>
            <a:off x="1220570" y="1540701"/>
            <a:ext cx="2189912" cy="26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14" name="Rectangle 13"/>
          <p:cNvSpPr/>
          <p:nvPr/>
        </p:nvSpPr>
        <p:spPr>
          <a:xfrm>
            <a:off x="3435846" y="3327620"/>
            <a:ext cx="2209800" cy="420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Diluluskan</a:t>
            </a:r>
            <a:r>
              <a:rPr lang="en-US" dirty="0" smtClean="0"/>
              <a:t> </a:t>
            </a:r>
            <a:endParaRPr lang="en-MY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4617602" y="2755902"/>
            <a:ext cx="41484" cy="60253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764" y="1788574"/>
            <a:ext cx="157184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43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93227"/>
            <a:ext cx="8594650" cy="48321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484" y="1966414"/>
            <a:ext cx="3430723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Senarai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CJ(P)</a:t>
            </a:r>
            <a:endParaRPr lang="en-MY" dirty="0"/>
          </a:p>
        </p:txBody>
      </p:sp>
      <p:sp>
        <p:nvSpPr>
          <p:cNvPr id="7" name="Rectangle 6"/>
          <p:cNvSpPr/>
          <p:nvPr/>
        </p:nvSpPr>
        <p:spPr>
          <a:xfrm>
            <a:off x="2275050" y="1580195"/>
            <a:ext cx="2294536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 </a:t>
            </a:r>
            <a:endParaRPr lang="en-MY" sz="1100" dirty="0"/>
          </a:p>
        </p:txBody>
      </p:sp>
      <p:sp>
        <p:nvSpPr>
          <p:cNvPr id="9" name="Rectangle 8"/>
          <p:cNvSpPr/>
          <p:nvPr/>
        </p:nvSpPr>
        <p:spPr>
          <a:xfrm>
            <a:off x="1214201" y="1580195"/>
            <a:ext cx="979073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12" name="Rectangle 11"/>
          <p:cNvSpPr/>
          <p:nvPr/>
        </p:nvSpPr>
        <p:spPr>
          <a:xfrm>
            <a:off x="5614437" y="1572046"/>
            <a:ext cx="1649249" cy="199868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/>
          <p:cNvSpPr/>
          <p:nvPr/>
        </p:nvSpPr>
        <p:spPr>
          <a:xfrm>
            <a:off x="5180195" y="1585520"/>
            <a:ext cx="2214270" cy="1945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875732" y="2648607"/>
          <a:ext cx="5024617" cy="380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571"/>
                <a:gridCol w="1033571"/>
                <a:gridCol w="876289"/>
                <a:gridCol w="1103787"/>
                <a:gridCol w="977399"/>
              </a:tblGrid>
              <a:tr h="5761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Negeri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Nama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Syarikat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Tahun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Bulan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Laporan</a:t>
                      </a:r>
                      <a:r>
                        <a:rPr lang="en-MY" sz="1200" u="none" strike="noStrike" dirty="0" smtClean="0">
                          <a:effectLst/>
                        </a:rPr>
                        <a:t> CJ(P)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</a:tr>
              <a:tr h="146050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>
                          <a:effectLst/>
                        </a:rPr>
                        <a:t> </a:t>
                      </a: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</a:tr>
            </a:tbl>
          </a:graphicData>
        </a:graphic>
      </p:graphicFrame>
      <p:sp>
        <p:nvSpPr>
          <p:cNvPr id="11" name="Right Arrow 10"/>
          <p:cNvSpPr/>
          <p:nvPr/>
        </p:nvSpPr>
        <p:spPr>
          <a:xfrm rot="5654867">
            <a:off x="5386318" y="1039442"/>
            <a:ext cx="993813" cy="25509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/>
          <p:cNvSpPr txBox="1"/>
          <p:nvPr/>
        </p:nvSpPr>
        <p:spPr>
          <a:xfrm>
            <a:off x="4986490" y="2811461"/>
            <a:ext cx="1465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Link pdf</a:t>
            </a:r>
            <a:endParaRPr lang="en-MY" sz="1200" dirty="0"/>
          </a:p>
        </p:txBody>
      </p:sp>
      <p:sp>
        <p:nvSpPr>
          <p:cNvPr id="6" name="Rectangle 5"/>
          <p:cNvSpPr/>
          <p:nvPr/>
        </p:nvSpPr>
        <p:spPr>
          <a:xfrm>
            <a:off x="1770278" y="2367031"/>
            <a:ext cx="2283929" cy="1493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1931214" y="2291389"/>
            <a:ext cx="1840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Tahun</a:t>
            </a:r>
            <a:r>
              <a:rPr lang="en-US" sz="1200" dirty="0" smtClean="0"/>
              <a:t> / </a:t>
            </a:r>
            <a:r>
              <a:rPr lang="en-US" sz="1200" dirty="0" err="1" smtClean="0"/>
              <a:t>Bulan</a:t>
            </a:r>
            <a:r>
              <a:rPr lang="en-US" sz="1200" dirty="0" smtClean="0"/>
              <a:t>  </a:t>
            </a:r>
            <a:endParaRPr lang="en-MY" sz="1200" dirty="0"/>
          </a:p>
        </p:txBody>
      </p:sp>
      <p:sp>
        <p:nvSpPr>
          <p:cNvPr id="18" name="Rectangle 17"/>
          <p:cNvSpPr/>
          <p:nvPr/>
        </p:nvSpPr>
        <p:spPr>
          <a:xfrm>
            <a:off x="7741" y="1538988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MyPetroleum</a:t>
            </a:r>
            <a:endParaRPr lang="en-US" sz="1100" dirty="0" smtClean="0"/>
          </a:p>
          <a:p>
            <a:pPr algn="ctr"/>
            <a:r>
              <a:rPr lang="en-US" sz="1100" dirty="0" smtClean="0"/>
              <a:t>JKDM</a:t>
            </a:r>
            <a:endParaRPr lang="en-MY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164" y="1848024"/>
            <a:ext cx="1571844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27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15" t="5549" b="5665"/>
          <a:stretch/>
        </p:blipFill>
        <p:spPr>
          <a:xfrm>
            <a:off x="121180" y="414867"/>
            <a:ext cx="8802688" cy="52662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76787" y="1253765"/>
            <a:ext cx="2604777" cy="4261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032410" y="1884646"/>
            <a:ext cx="6787613" cy="24307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 smtClean="0">
                <a:solidFill>
                  <a:schemeClr val="tx1"/>
                </a:solidFill>
              </a:rPr>
              <a:t>Selamat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Datang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ke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MyPetroleum</a:t>
            </a:r>
            <a:r>
              <a:rPr lang="en-US" sz="1200" dirty="0" smtClean="0">
                <a:solidFill>
                  <a:schemeClr val="tx1"/>
                </a:solidFill>
              </a:rPr>
              <a:t>- </a:t>
            </a:r>
            <a:r>
              <a:rPr lang="en-US" sz="1200" dirty="0" err="1" smtClean="0">
                <a:solidFill>
                  <a:schemeClr val="tx1"/>
                </a:solidFill>
              </a:rPr>
              <a:t>Sistem</a:t>
            </a:r>
            <a:r>
              <a:rPr lang="en-US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err="1" smtClean="0">
                <a:solidFill>
                  <a:schemeClr val="tx1"/>
                </a:solidFill>
              </a:rPr>
              <a:t>Maklumat</a:t>
            </a:r>
            <a:r>
              <a:rPr lang="en-US" sz="1200" dirty="0" smtClean="0">
                <a:solidFill>
                  <a:schemeClr val="tx1"/>
                </a:solidFill>
              </a:rPr>
              <a:t> Bunker Petroleum.</a:t>
            </a:r>
          </a:p>
          <a:p>
            <a:endParaRPr lang="en-US" sz="1200" dirty="0" smtClean="0">
              <a:solidFill>
                <a:schemeClr val="tx1"/>
              </a:solidFill>
            </a:endParaRPr>
          </a:p>
          <a:p>
            <a:r>
              <a:rPr lang="en-US" sz="1200" dirty="0" err="1">
                <a:solidFill>
                  <a:schemeClr val="tx1"/>
                </a:solidFill>
              </a:rPr>
              <a:t>Sistem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MyPetroleum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dibangunkan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sebagai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satu</a:t>
            </a:r>
            <a:r>
              <a:rPr lang="en-MY" sz="1200" dirty="0">
                <a:solidFill>
                  <a:schemeClr val="tx1"/>
                </a:solidFill>
              </a:rPr>
              <a:t> platform </a:t>
            </a:r>
            <a:r>
              <a:rPr lang="en-MY" sz="1200" dirty="0" err="1">
                <a:solidFill>
                  <a:schemeClr val="tx1"/>
                </a:solidFill>
              </a:rPr>
              <a:t>untuk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memohon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pengecualian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bagi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bagi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minyak</a:t>
            </a:r>
            <a:r>
              <a:rPr lang="en-MY" sz="1200" dirty="0">
                <a:solidFill>
                  <a:schemeClr val="tx1"/>
                </a:solidFill>
              </a:rPr>
              <a:t> bunker </a:t>
            </a:r>
            <a:r>
              <a:rPr lang="en-MY" sz="1200" dirty="0" err="1">
                <a:solidFill>
                  <a:schemeClr val="tx1"/>
                </a:solidFill>
              </a:rPr>
              <a:t>ke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atas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kapal-kapal</a:t>
            </a:r>
            <a:r>
              <a:rPr lang="en-MY" sz="1200" dirty="0">
                <a:solidFill>
                  <a:schemeClr val="tx1"/>
                </a:solidFill>
              </a:rPr>
              <a:t> yang </a:t>
            </a:r>
            <a:r>
              <a:rPr lang="en-MY" sz="1200" dirty="0" err="1">
                <a:solidFill>
                  <a:schemeClr val="tx1"/>
                </a:solidFill>
              </a:rPr>
              <a:t>layak</a:t>
            </a:r>
            <a:r>
              <a:rPr lang="en-MY" sz="1200" dirty="0">
                <a:solidFill>
                  <a:schemeClr val="tx1"/>
                </a:solidFill>
              </a:rPr>
              <a:t>. Bunkering </a:t>
            </a:r>
            <a:r>
              <a:rPr lang="en-MY" sz="1200" dirty="0" err="1">
                <a:solidFill>
                  <a:schemeClr val="tx1"/>
                </a:solidFill>
              </a:rPr>
              <a:t>adalah</a:t>
            </a:r>
            <a:r>
              <a:rPr lang="en-MY" sz="1200" dirty="0">
                <a:solidFill>
                  <a:schemeClr val="tx1"/>
                </a:solidFill>
              </a:rPr>
              <a:t> proses </a:t>
            </a:r>
            <a:r>
              <a:rPr lang="en-MY" sz="1200" dirty="0" err="1">
                <a:solidFill>
                  <a:schemeClr val="tx1"/>
                </a:solidFill>
              </a:rPr>
              <a:t>menyalurkan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bahan</a:t>
            </a:r>
            <a:r>
              <a:rPr lang="en-MY" sz="1200" dirty="0">
                <a:solidFill>
                  <a:schemeClr val="tx1"/>
                </a:solidFill>
              </a:rPr>
              <a:t> petroleum </a:t>
            </a:r>
            <a:r>
              <a:rPr lang="en-MY" sz="1200" dirty="0" err="1">
                <a:solidFill>
                  <a:schemeClr val="tx1"/>
                </a:solidFill>
              </a:rPr>
              <a:t>untuk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menggerakkan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enjin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</a:t>
            </a:r>
            <a:r>
              <a:rPr lang="en-MY" sz="1200" dirty="0" smtClean="0">
                <a:solidFill>
                  <a:schemeClr val="tx1"/>
                </a:solidFill>
              </a:rPr>
              <a:t>.</a:t>
            </a:r>
          </a:p>
          <a:p>
            <a:endParaRPr lang="en-MY" sz="1200" dirty="0">
              <a:solidFill>
                <a:schemeClr val="tx1"/>
              </a:solidFill>
            </a:endParaRPr>
          </a:p>
          <a:p>
            <a:r>
              <a:rPr lang="en-MY" sz="1200" dirty="0">
                <a:solidFill>
                  <a:schemeClr val="tx1"/>
                </a:solidFill>
              </a:rPr>
              <a:t>Di </a:t>
            </a:r>
            <a:r>
              <a:rPr lang="en-MY" sz="1200" dirty="0" err="1">
                <a:solidFill>
                  <a:schemeClr val="tx1"/>
                </a:solidFill>
              </a:rPr>
              <a:t>bawah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Seksyen</a:t>
            </a:r>
            <a:r>
              <a:rPr lang="en-MY" sz="1200" dirty="0">
                <a:solidFill>
                  <a:schemeClr val="tx1"/>
                </a:solidFill>
              </a:rPr>
              <a:t> 35(1) </a:t>
            </a:r>
            <a:r>
              <a:rPr lang="en-MY" sz="1200" dirty="0" err="1">
                <a:solidFill>
                  <a:schemeClr val="tx1"/>
                </a:solidFill>
              </a:rPr>
              <a:t>Akta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2018, </a:t>
            </a:r>
            <a:r>
              <a:rPr lang="en-MY" sz="1200" dirty="0" err="1">
                <a:solidFill>
                  <a:schemeClr val="tx1"/>
                </a:solidFill>
              </a:rPr>
              <a:t>aktiviti</a:t>
            </a:r>
            <a:r>
              <a:rPr lang="en-MY" sz="1200" dirty="0">
                <a:solidFill>
                  <a:schemeClr val="tx1"/>
                </a:solidFill>
              </a:rPr>
              <a:t> bunkering </a:t>
            </a:r>
            <a:r>
              <a:rPr lang="en-MY" sz="1200" dirty="0" err="1">
                <a:solidFill>
                  <a:schemeClr val="tx1"/>
                </a:solidFill>
              </a:rPr>
              <a:t>telah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diberikan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pengecualian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ke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atas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kapal-kapal</a:t>
            </a:r>
            <a:r>
              <a:rPr lang="en-MY" sz="1200" dirty="0">
                <a:solidFill>
                  <a:schemeClr val="tx1"/>
                </a:solidFill>
              </a:rPr>
              <a:t> yang </a:t>
            </a:r>
            <a:r>
              <a:rPr lang="en-MY" sz="1200" dirty="0" err="1">
                <a:solidFill>
                  <a:schemeClr val="tx1"/>
                </a:solidFill>
              </a:rPr>
              <a:t>layak</a:t>
            </a:r>
            <a:r>
              <a:rPr lang="en-MY" sz="1200" dirty="0">
                <a:solidFill>
                  <a:schemeClr val="tx1"/>
                </a:solidFill>
              </a:rPr>
              <a:t> di </a:t>
            </a:r>
            <a:r>
              <a:rPr lang="en-MY" sz="1200" dirty="0" err="1">
                <a:solidFill>
                  <a:schemeClr val="tx1"/>
                </a:solidFill>
              </a:rPr>
              <a:t>bawah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Butiran</a:t>
            </a:r>
            <a:r>
              <a:rPr lang="en-MY" sz="1200" dirty="0">
                <a:solidFill>
                  <a:schemeClr val="tx1"/>
                </a:solidFill>
              </a:rPr>
              <a:t> 58 </a:t>
            </a:r>
            <a:r>
              <a:rPr lang="en-MY" sz="1200" dirty="0" err="1">
                <a:solidFill>
                  <a:schemeClr val="tx1"/>
                </a:solidFill>
              </a:rPr>
              <a:t>dan</a:t>
            </a:r>
            <a:r>
              <a:rPr lang="en-MY" sz="1200" dirty="0">
                <a:solidFill>
                  <a:schemeClr val="tx1"/>
                </a:solidFill>
              </a:rPr>
              <a:t> 58 A , </a:t>
            </a:r>
            <a:r>
              <a:rPr lang="en-MY" sz="1200" dirty="0" err="1">
                <a:solidFill>
                  <a:schemeClr val="tx1"/>
                </a:solidFill>
              </a:rPr>
              <a:t>Perintah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Jualan</a:t>
            </a:r>
            <a:r>
              <a:rPr lang="en-MY" sz="1200" dirty="0">
                <a:solidFill>
                  <a:schemeClr val="tx1"/>
                </a:solidFill>
              </a:rPr>
              <a:t> (Orang Yang </a:t>
            </a:r>
            <a:r>
              <a:rPr lang="en-MY" sz="1200" dirty="0" err="1">
                <a:solidFill>
                  <a:schemeClr val="tx1"/>
                </a:solidFill>
              </a:rPr>
              <a:t>Dikecualikan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Daripada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Pembayaran</a:t>
            </a:r>
            <a:r>
              <a:rPr lang="en-MY" sz="1200" dirty="0">
                <a:solidFill>
                  <a:schemeClr val="tx1"/>
                </a:solidFill>
              </a:rPr>
              <a:t> </a:t>
            </a:r>
            <a:r>
              <a:rPr lang="en-MY" sz="1200" dirty="0" err="1">
                <a:solidFill>
                  <a:schemeClr val="tx1"/>
                </a:solidFill>
              </a:rPr>
              <a:t>Cukai</a:t>
            </a:r>
            <a:r>
              <a:rPr lang="en-MY" sz="1200" dirty="0">
                <a:solidFill>
                  <a:schemeClr val="tx1"/>
                </a:solidFill>
              </a:rPr>
              <a:t>) 2018.</a:t>
            </a:r>
          </a:p>
          <a:p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73" y="1161279"/>
            <a:ext cx="1220282" cy="6071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950373" y="3723264"/>
            <a:ext cx="2065658" cy="435429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KPDN </a:t>
            </a:r>
            <a:endParaRPr lang="en-MY" dirty="0"/>
          </a:p>
        </p:txBody>
      </p:sp>
      <p:sp>
        <p:nvSpPr>
          <p:cNvPr id="10" name="Rectangle 9"/>
          <p:cNvSpPr/>
          <p:nvPr/>
        </p:nvSpPr>
        <p:spPr>
          <a:xfrm>
            <a:off x="2524124" y="4474576"/>
            <a:ext cx="1751479" cy="2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Di </a:t>
            </a:r>
            <a:r>
              <a:rPr lang="en-US" sz="1200" dirty="0" err="1" smtClean="0"/>
              <a:t>bawah</a:t>
            </a:r>
            <a:r>
              <a:rPr lang="en-US" sz="1200" dirty="0" smtClean="0"/>
              <a:t> </a:t>
            </a:r>
            <a:r>
              <a:rPr lang="en-US" sz="1200" dirty="0" err="1" smtClean="0"/>
              <a:t>Butiran</a:t>
            </a:r>
            <a:r>
              <a:rPr lang="en-US" sz="1200" dirty="0" smtClean="0"/>
              <a:t> 58A </a:t>
            </a:r>
            <a:endParaRPr lang="en-MY" sz="1200" dirty="0"/>
          </a:p>
        </p:txBody>
      </p:sp>
      <p:sp>
        <p:nvSpPr>
          <p:cNvPr id="13" name="Rectangle 12"/>
          <p:cNvSpPr/>
          <p:nvPr/>
        </p:nvSpPr>
        <p:spPr>
          <a:xfrm>
            <a:off x="1226699" y="798775"/>
            <a:ext cx="2189912" cy="26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15" name="Rectangle 14"/>
          <p:cNvSpPr/>
          <p:nvPr/>
        </p:nvSpPr>
        <p:spPr>
          <a:xfrm>
            <a:off x="-74670" y="776557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 ADMIN</a:t>
            </a:r>
            <a:endParaRPr lang="en-MY" sz="1100" dirty="0"/>
          </a:p>
        </p:txBody>
      </p:sp>
      <p:sp>
        <p:nvSpPr>
          <p:cNvPr id="16" name="Rectangle 15"/>
          <p:cNvSpPr/>
          <p:nvPr/>
        </p:nvSpPr>
        <p:spPr>
          <a:xfrm>
            <a:off x="3456474" y="836570"/>
            <a:ext cx="2009516" cy="209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2" name="TextBox 1"/>
          <p:cNvSpPr txBox="1"/>
          <p:nvPr/>
        </p:nvSpPr>
        <p:spPr>
          <a:xfrm>
            <a:off x="1032411" y="77118"/>
            <a:ext cx="168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Skrin</a:t>
            </a:r>
            <a:r>
              <a:rPr lang="en-US" dirty="0" smtClean="0"/>
              <a:t> admin</a:t>
            </a:r>
            <a:endParaRPr lang="en-MY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723813" y="1013630"/>
            <a:ext cx="444180" cy="333836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505853" y="807349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Tambah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  <p:sp>
        <p:nvSpPr>
          <p:cNvPr id="19" name="Rectangle 18"/>
          <p:cNvSpPr/>
          <p:nvPr/>
        </p:nvSpPr>
        <p:spPr>
          <a:xfrm>
            <a:off x="6686398" y="798775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Urus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  <p:sp>
        <p:nvSpPr>
          <p:cNvPr id="3" name="Rectangle 2"/>
          <p:cNvSpPr/>
          <p:nvPr/>
        </p:nvSpPr>
        <p:spPr>
          <a:xfrm>
            <a:off x="5290457" y="4474576"/>
            <a:ext cx="1905000" cy="2124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0033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42371"/>
            <a:ext cx="8594650" cy="4832131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5" name="Rectangle 4"/>
          <p:cNvSpPr/>
          <p:nvPr/>
        </p:nvSpPr>
        <p:spPr>
          <a:xfrm>
            <a:off x="2390085" y="1913435"/>
            <a:ext cx="3101687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Pengecualian</a:t>
            </a:r>
            <a:r>
              <a:rPr lang="en-US" dirty="0" smtClean="0"/>
              <a:t> </a:t>
            </a:r>
            <a:r>
              <a:rPr lang="en-US" dirty="0" err="1" smtClean="0"/>
              <a:t>Butiran</a:t>
            </a:r>
            <a:r>
              <a:rPr lang="en-US" dirty="0" smtClean="0"/>
              <a:t> 58A</a:t>
            </a:r>
            <a:endParaRPr lang="en-MY" dirty="0"/>
          </a:p>
        </p:txBody>
      </p:sp>
      <p:sp>
        <p:nvSpPr>
          <p:cNvPr id="6" name="TextBox 5"/>
          <p:cNvSpPr txBox="1"/>
          <p:nvPr/>
        </p:nvSpPr>
        <p:spPr>
          <a:xfrm>
            <a:off x="1732502" y="2228596"/>
            <a:ext cx="345244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Kawasan</a:t>
            </a:r>
            <a:r>
              <a:rPr lang="en-US" sz="1200" dirty="0" smtClean="0"/>
              <a:t>/Status/No </a:t>
            </a:r>
            <a:r>
              <a:rPr lang="en-US" sz="1200" dirty="0" err="1" smtClean="0"/>
              <a:t>Sijil</a:t>
            </a:r>
            <a:r>
              <a:rPr lang="en-US" sz="1200" dirty="0" smtClean="0"/>
              <a:t>/</a:t>
            </a:r>
            <a:r>
              <a:rPr lang="en-US" sz="1200" dirty="0" err="1" smtClean="0"/>
              <a:t>Tarikh</a:t>
            </a:r>
            <a:r>
              <a:rPr lang="en-US" sz="1200" dirty="0" smtClean="0"/>
              <a:t> </a:t>
            </a:r>
            <a:endParaRPr lang="en-MY" sz="1200" dirty="0"/>
          </a:p>
        </p:txBody>
      </p:sp>
      <p:sp>
        <p:nvSpPr>
          <p:cNvPr id="15" name="Rectangle 14"/>
          <p:cNvSpPr/>
          <p:nvPr/>
        </p:nvSpPr>
        <p:spPr>
          <a:xfrm>
            <a:off x="-93473" y="1540701"/>
            <a:ext cx="119663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My Petroleum</a:t>
            </a:r>
          </a:p>
          <a:p>
            <a:pPr algn="ctr"/>
            <a:r>
              <a:rPr lang="en-US" sz="1100" dirty="0" smtClean="0"/>
              <a:t>Admin</a:t>
            </a:r>
            <a:endParaRPr lang="en-MY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8104395" y="3062157"/>
            <a:ext cx="894303" cy="3350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padam</a:t>
            </a:r>
            <a:endParaRPr lang="en-MY" sz="16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3" y="2588362"/>
            <a:ext cx="8141346" cy="34256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09204" y="2755901"/>
            <a:ext cx="695191" cy="3252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pdf</a:t>
            </a:r>
            <a:endParaRPr lang="en-MY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8190903" y="3409015"/>
            <a:ext cx="30145" cy="9073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527894" y="1571540"/>
            <a:ext cx="1567472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sp>
        <p:nvSpPr>
          <p:cNvPr id="17" name="Rectangle 16"/>
          <p:cNvSpPr/>
          <p:nvPr/>
        </p:nvSpPr>
        <p:spPr>
          <a:xfrm>
            <a:off x="1220570" y="1540701"/>
            <a:ext cx="2189912" cy="264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</a:t>
            </a:r>
            <a:endParaRPr lang="en-MY" sz="1100" dirty="0"/>
          </a:p>
        </p:txBody>
      </p:sp>
      <p:sp>
        <p:nvSpPr>
          <p:cNvPr id="14" name="Rounded Rectangle 13"/>
          <p:cNvSpPr/>
          <p:nvPr/>
        </p:nvSpPr>
        <p:spPr>
          <a:xfrm>
            <a:off x="8239505" y="2570538"/>
            <a:ext cx="894303" cy="3350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semak</a:t>
            </a:r>
            <a:endParaRPr lang="en-MY" sz="1600" dirty="0"/>
          </a:p>
        </p:txBody>
      </p:sp>
      <p:sp>
        <p:nvSpPr>
          <p:cNvPr id="16" name="Rectangle 15"/>
          <p:cNvSpPr/>
          <p:nvPr/>
        </p:nvSpPr>
        <p:spPr>
          <a:xfrm>
            <a:off x="5248213" y="1508585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Tambah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  <p:sp>
        <p:nvSpPr>
          <p:cNvPr id="20" name="Rectangle 19"/>
          <p:cNvSpPr/>
          <p:nvPr/>
        </p:nvSpPr>
        <p:spPr>
          <a:xfrm>
            <a:off x="6541742" y="1540701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Urus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  <p:sp>
        <p:nvSpPr>
          <p:cNvPr id="2" name="Rectangle 1"/>
          <p:cNvSpPr/>
          <p:nvPr/>
        </p:nvSpPr>
        <p:spPr>
          <a:xfrm>
            <a:off x="7409204" y="4316386"/>
            <a:ext cx="1277452" cy="571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Tambah</a:t>
            </a:r>
            <a:r>
              <a:rPr lang="en-US" dirty="0" smtClean="0"/>
              <a:t> </a:t>
            </a:r>
            <a:r>
              <a:rPr lang="en-US" dirty="0" err="1" smtClean="0"/>
              <a:t>padam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4004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56" y="993227"/>
            <a:ext cx="8594650" cy="48321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484" y="1966414"/>
            <a:ext cx="3430723" cy="270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Senarai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CJ(P)</a:t>
            </a:r>
            <a:endParaRPr lang="en-MY" dirty="0"/>
          </a:p>
        </p:txBody>
      </p:sp>
      <p:sp>
        <p:nvSpPr>
          <p:cNvPr id="7" name="Rectangle 6"/>
          <p:cNvSpPr/>
          <p:nvPr/>
        </p:nvSpPr>
        <p:spPr>
          <a:xfrm>
            <a:off x="2275050" y="1580195"/>
            <a:ext cx="2294536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Permohonan</a:t>
            </a:r>
            <a:r>
              <a:rPr lang="en-US" sz="1100" dirty="0" smtClean="0"/>
              <a:t> </a:t>
            </a:r>
            <a:r>
              <a:rPr lang="en-US" sz="1100" dirty="0" err="1" smtClean="0"/>
              <a:t>Butiran</a:t>
            </a:r>
            <a:r>
              <a:rPr lang="en-US" sz="1100" dirty="0" smtClean="0"/>
              <a:t> 58A </a:t>
            </a:r>
            <a:endParaRPr lang="en-MY" sz="1100" dirty="0"/>
          </a:p>
        </p:txBody>
      </p:sp>
      <p:sp>
        <p:nvSpPr>
          <p:cNvPr id="9" name="Rectangle 8"/>
          <p:cNvSpPr/>
          <p:nvPr/>
        </p:nvSpPr>
        <p:spPr>
          <a:xfrm>
            <a:off x="1214201" y="1580195"/>
            <a:ext cx="979073" cy="199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Permohonan</a:t>
            </a:r>
            <a:endParaRPr lang="en-MY" sz="1100" dirty="0"/>
          </a:p>
        </p:txBody>
      </p:sp>
      <p:sp>
        <p:nvSpPr>
          <p:cNvPr id="12" name="Rectangle 11"/>
          <p:cNvSpPr/>
          <p:nvPr/>
        </p:nvSpPr>
        <p:spPr>
          <a:xfrm>
            <a:off x="4815441" y="1597812"/>
            <a:ext cx="1649249" cy="199868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/>
          <p:cNvSpPr/>
          <p:nvPr/>
        </p:nvSpPr>
        <p:spPr>
          <a:xfrm>
            <a:off x="4569586" y="1572046"/>
            <a:ext cx="1898849" cy="208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Senarai</a:t>
            </a:r>
            <a:r>
              <a:rPr lang="en-US" sz="1100" dirty="0" smtClean="0"/>
              <a:t> </a:t>
            </a:r>
            <a:r>
              <a:rPr lang="en-US" sz="1100" dirty="0" err="1" smtClean="0"/>
              <a:t>Laporan</a:t>
            </a:r>
            <a:r>
              <a:rPr lang="en-US" sz="1100" dirty="0" smtClean="0"/>
              <a:t> CJ(P)</a:t>
            </a:r>
            <a:endParaRPr lang="en-MY" sz="11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875732" y="2648607"/>
          <a:ext cx="5024617" cy="380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3571"/>
                <a:gridCol w="1033571"/>
                <a:gridCol w="876289"/>
                <a:gridCol w="1103787"/>
                <a:gridCol w="977399"/>
              </a:tblGrid>
              <a:tr h="57615"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Negeri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Nama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Syarikat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Tahun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Bulan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200" u="none" strike="noStrike" dirty="0" err="1" smtClean="0">
                          <a:effectLst/>
                        </a:rPr>
                        <a:t>Laporan</a:t>
                      </a:r>
                      <a:r>
                        <a:rPr lang="en-MY" sz="1200" u="none" strike="noStrike" dirty="0" smtClean="0">
                          <a:effectLst/>
                        </a:rPr>
                        <a:t> CJ(P)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</a:tr>
              <a:tr h="146050"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>
                          <a:effectLst/>
                        </a:rPr>
                        <a:t> </a:t>
                      </a:r>
                      <a:endParaRPr lang="en-MY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MY" sz="1200" u="none" strike="noStrike" dirty="0">
                          <a:effectLst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03" marR="7303" marT="7303" marB="0" anchor="b"/>
                </a:tc>
              </a:tr>
            </a:tbl>
          </a:graphicData>
        </a:graphic>
      </p:graphicFrame>
      <p:sp>
        <p:nvSpPr>
          <p:cNvPr id="11" name="Right Arrow 10"/>
          <p:cNvSpPr/>
          <p:nvPr/>
        </p:nvSpPr>
        <p:spPr>
          <a:xfrm rot="5654867">
            <a:off x="6299389" y="906451"/>
            <a:ext cx="993813" cy="255097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extBox 1"/>
          <p:cNvSpPr txBox="1"/>
          <p:nvPr/>
        </p:nvSpPr>
        <p:spPr>
          <a:xfrm>
            <a:off x="4986490" y="2811461"/>
            <a:ext cx="1465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Link pdf</a:t>
            </a:r>
            <a:endParaRPr lang="en-MY" sz="1200" dirty="0"/>
          </a:p>
        </p:txBody>
      </p:sp>
      <p:sp>
        <p:nvSpPr>
          <p:cNvPr id="6" name="Rectangle 5"/>
          <p:cNvSpPr/>
          <p:nvPr/>
        </p:nvSpPr>
        <p:spPr>
          <a:xfrm>
            <a:off x="1770278" y="2367031"/>
            <a:ext cx="2283929" cy="1493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TextBox 14"/>
          <p:cNvSpPr txBox="1"/>
          <p:nvPr/>
        </p:nvSpPr>
        <p:spPr>
          <a:xfrm>
            <a:off x="1931214" y="2291389"/>
            <a:ext cx="1840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Negeri</a:t>
            </a:r>
            <a:r>
              <a:rPr lang="en-US" sz="1200" dirty="0" smtClean="0"/>
              <a:t>/</a:t>
            </a:r>
            <a:r>
              <a:rPr lang="en-US" sz="1200" dirty="0" err="1" smtClean="0"/>
              <a:t>Tahun</a:t>
            </a:r>
            <a:r>
              <a:rPr lang="en-US" sz="1200" dirty="0" smtClean="0"/>
              <a:t> / </a:t>
            </a:r>
            <a:r>
              <a:rPr lang="en-US" sz="1200" dirty="0" err="1" smtClean="0"/>
              <a:t>Bulan</a:t>
            </a:r>
            <a:r>
              <a:rPr lang="en-US" sz="1200" dirty="0" smtClean="0"/>
              <a:t>  </a:t>
            </a:r>
            <a:endParaRPr lang="en-MY" sz="1200" dirty="0"/>
          </a:p>
        </p:txBody>
      </p:sp>
      <p:sp>
        <p:nvSpPr>
          <p:cNvPr id="18" name="Rectangle 17"/>
          <p:cNvSpPr/>
          <p:nvPr/>
        </p:nvSpPr>
        <p:spPr>
          <a:xfrm>
            <a:off x="7741" y="1538988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MyPetroleum</a:t>
            </a:r>
            <a:endParaRPr lang="en-US" sz="1100" dirty="0" smtClean="0"/>
          </a:p>
          <a:p>
            <a:pPr algn="ctr"/>
            <a:r>
              <a:rPr lang="en-US" sz="1100" dirty="0" smtClean="0"/>
              <a:t>Admin</a:t>
            </a:r>
            <a:endParaRPr lang="en-MY"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6004798" y="2668424"/>
            <a:ext cx="894303" cy="33507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padam</a:t>
            </a:r>
            <a:endParaRPr lang="en-MY" sz="1600" dirty="0"/>
          </a:p>
        </p:txBody>
      </p:sp>
      <p:sp>
        <p:nvSpPr>
          <p:cNvPr id="17" name="Rectangle 16"/>
          <p:cNvSpPr/>
          <p:nvPr/>
        </p:nvSpPr>
        <p:spPr>
          <a:xfrm>
            <a:off x="7525494" y="1779814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Urus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  <p:sp>
        <p:nvSpPr>
          <p:cNvPr id="19" name="Rectangle 18"/>
          <p:cNvSpPr/>
          <p:nvPr/>
        </p:nvSpPr>
        <p:spPr>
          <a:xfrm>
            <a:off x="6328760" y="1523153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Tambah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2250499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" y="1635716"/>
            <a:ext cx="8675915" cy="3296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2514" y="3744685"/>
            <a:ext cx="9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JKDM</a:t>
            </a:r>
            <a:endParaRPr lang="en-MY" sz="1400" dirty="0"/>
          </a:p>
        </p:txBody>
      </p:sp>
      <p:sp>
        <p:nvSpPr>
          <p:cNvPr id="6" name="Rectangle 5"/>
          <p:cNvSpPr/>
          <p:nvPr/>
        </p:nvSpPr>
        <p:spPr>
          <a:xfrm>
            <a:off x="130628" y="1049131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MyPetroleum</a:t>
            </a:r>
            <a:endParaRPr lang="en-US" sz="1100" dirty="0" smtClean="0"/>
          </a:p>
          <a:p>
            <a:pPr algn="ctr"/>
            <a:r>
              <a:rPr lang="en-US" sz="1100" dirty="0" smtClean="0"/>
              <a:t>JKDM</a:t>
            </a:r>
            <a:endParaRPr lang="en-MY" sz="1100" dirty="0"/>
          </a:p>
        </p:txBody>
      </p:sp>
      <p:sp>
        <p:nvSpPr>
          <p:cNvPr id="7" name="Rectangle 6"/>
          <p:cNvSpPr/>
          <p:nvPr/>
        </p:nvSpPr>
        <p:spPr>
          <a:xfrm>
            <a:off x="1853645" y="1028652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Tambah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3973980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2" y="1032804"/>
            <a:ext cx="8816594" cy="4620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71979" y="318647"/>
            <a:ext cx="1140682" cy="3731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 smtClean="0"/>
              <a:t>Urus</a:t>
            </a:r>
            <a:r>
              <a:rPr lang="en-US" sz="1100" dirty="0" smtClean="0"/>
              <a:t> </a:t>
            </a:r>
            <a:r>
              <a:rPr lang="en-US" sz="1100" dirty="0" err="1" smtClean="0"/>
              <a:t>Pengguna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1059856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1068</TotalTime>
  <Words>1772</Words>
  <Application>Microsoft Office PowerPoint</Application>
  <PresentationFormat>On-screen Show (4:3)</PresentationFormat>
  <Paragraphs>378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-apple-system</vt:lpstr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87</cp:revision>
  <dcterms:created xsi:type="dcterms:W3CDTF">2025-07-29T06:31:48Z</dcterms:created>
  <dcterms:modified xsi:type="dcterms:W3CDTF">2026-06-06T16:07:05Z</dcterms:modified>
</cp:coreProperties>
</file>